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82" r:id="rId16"/>
    <p:sldId id="26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3333413" cy="7499350"/>
  <p:notesSz cx="6858000" cy="9144000"/>
  <p:defaultTextStyle>
    <a:defPPr>
      <a:defRPr lang="pt-BR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94" autoAdjust="0"/>
  </p:normalViewPr>
  <p:slideViewPr>
    <p:cSldViewPr snapToGrid="0">
      <p:cViewPr varScale="1">
        <p:scale>
          <a:sx n="90" d="100"/>
          <a:sy n="90" d="100"/>
        </p:scale>
        <p:origin x="10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EA0A80-6E11-4337-B947-582D1721A6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7D779FA-D8B5-4D84-9C75-ACE88BAF0F7B}">
      <dgm:prSet/>
      <dgm:spPr/>
      <dgm:t>
        <a:bodyPr/>
        <a:lstStyle/>
        <a:p>
          <a:r>
            <a:rPr lang="pt-BR"/>
            <a:t>Testes E2E validam fluxos completos de uso em aplicações web.</a:t>
          </a:r>
          <a:endParaRPr lang="en-US"/>
        </a:p>
      </dgm:t>
    </dgm:pt>
    <dgm:pt modelId="{3B3CB757-7335-427B-B6F0-EC42233BF97C}" type="parTrans" cxnId="{F562E0CB-2FA0-4DF0-86CA-718F4A9B7FA9}">
      <dgm:prSet/>
      <dgm:spPr/>
      <dgm:t>
        <a:bodyPr/>
        <a:lstStyle/>
        <a:p>
          <a:endParaRPr lang="en-US"/>
        </a:p>
      </dgm:t>
    </dgm:pt>
    <dgm:pt modelId="{34BFE4A4-DFFD-45EC-B50B-7E8C32A61F8D}" type="sibTrans" cxnId="{F562E0CB-2FA0-4DF0-86CA-718F4A9B7FA9}">
      <dgm:prSet/>
      <dgm:spPr/>
      <dgm:t>
        <a:bodyPr/>
        <a:lstStyle/>
        <a:p>
          <a:endParaRPr lang="en-US"/>
        </a:p>
      </dgm:t>
    </dgm:pt>
    <dgm:pt modelId="{F8FD17E8-4DC1-4ABF-A58A-72A4D87508AC}">
      <dgm:prSet/>
      <dgm:spPr/>
      <dgm:t>
        <a:bodyPr/>
        <a:lstStyle/>
        <a:p>
          <a:r>
            <a:rPr lang="pt-BR"/>
            <a:t>Eles são importantes, mas caros de escrever, revisar e manter.</a:t>
          </a:r>
          <a:endParaRPr lang="en-US"/>
        </a:p>
      </dgm:t>
    </dgm:pt>
    <dgm:pt modelId="{72324509-CD4D-4C5E-A193-A450B72AFC6B}" type="parTrans" cxnId="{839DFDBA-BD4A-484A-A819-EBDDDB4632BF}">
      <dgm:prSet/>
      <dgm:spPr/>
      <dgm:t>
        <a:bodyPr/>
        <a:lstStyle/>
        <a:p>
          <a:endParaRPr lang="en-US"/>
        </a:p>
      </dgm:t>
    </dgm:pt>
    <dgm:pt modelId="{94146FC1-0B82-4208-84ED-BBD943A9A758}" type="sibTrans" cxnId="{839DFDBA-BD4A-484A-A819-EBDDDB4632BF}">
      <dgm:prSet/>
      <dgm:spPr/>
      <dgm:t>
        <a:bodyPr/>
        <a:lstStyle/>
        <a:p>
          <a:endParaRPr lang="en-US"/>
        </a:p>
      </dgm:t>
    </dgm:pt>
    <dgm:pt modelId="{94E863D2-2C50-4F4A-B498-AEA94413F595}">
      <dgm:prSet/>
      <dgm:spPr/>
      <dgm:t>
        <a:bodyPr/>
        <a:lstStyle/>
        <a:p>
          <a:r>
            <a:rPr lang="pt-BR"/>
            <a:t>LLMs ajudam na geração de código, mas não conhecem necessariamente a interface real.</a:t>
          </a:r>
          <a:endParaRPr lang="en-US"/>
        </a:p>
      </dgm:t>
    </dgm:pt>
    <dgm:pt modelId="{AF238B21-66D8-461F-B0C6-44EAC1CD9277}" type="parTrans" cxnId="{0A83C05D-1201-49EF-AD7D-BCD0FA8BC385}">
      <dgm:prSet/>
      <dgm:spPr/>
      <dgm:t>
        <a:bodyPr/>
        <a:lstStyle/>
        <a:p>
          <a:endParaRPr lang="en-US"/>
        </a:p>
      </dgm:t>
    </dgm:pt>
    <dgm:pt modelId="{D8DDA04A-FDDB-4272-B104-399612F60ADD}" type="sibTrans" cxnId="{0A83C05D-1201-49EF-AD7D-BCD0FA8BC385}">
      <dgm:prSet/>
      <dgm:spPr/>
      <dgm:t>
        <a:bodyPr/>
        <a:lstStyle/>
        <a:p>
          <a:endParaRPr lang="en-US"/>
        </a:p>
      </dgm:t>
    </dgm:pt>
    <dgm:pt modelId="{555FE164-B5CF-42D0-B8EB-983FF1412707}">
      <dgm:prSet/>
      <dgm:spPr/>
      <dgm:t>
        <a:bodyPr/>
        <a:lstStyle/>
        <a:p>
          <a:r>
            <a:rPr lang="pt-BR" dirty="0"/>
            <a:t>Sem contexto, o teste pode parecer plausível e ainda assim não representar o sistema.</a:t>
          </a:r>
          <a:endParaRPr lang="en-US" dirty="0"/>
        </a:p>
      </dgm:t>
    </dgm:pt>
    <dgm:pt modelId="{E5782818-FE2F-4AD8-9C65-0FF1FC021CD4}" type="parTrans" cxnId="{550497A9-F1A6-4752-8994-2683303F0000}">
      <dgm:prSet/>
      <dgm:spPr/>
      <dgm:t>
        <a:bodyPr/>
        <a:lstStyle/>
        <a:p>
          <a:endParaRPr lang="en-US"/>
        </a:p>
      </dgm:t>
    </dgm:pt>
    <dgm:pt modelId="{00D93174-7217-465D-B5CA-67F1238DA7FA}" type="sibTrans" cxnId="{550497A9-F1A6-4752-8994-2683303F0000}">
      <dgm:prSet/>
      <dgm:spPr/>
      <dgm:t>
        <a:bodyPr/>
        <a:lstStyle/>
        <a:p>
          <a:endParaRPr lang="en-US"/>
        </a:p>
      </dgm:t>
    </dgm:pt>
    <dgm:pt modelId="{0C661359-EFBD-4ECA-8836-1E04A2CF6374}" type="pres">
      <dgm:prSet presAssocID="{E7EA0A80-6E11-4337-B947-582D1721A6B7}" presName="vert0" presStyleCnt="0">
        <dgm:presLayoutVars>
          <dgm:dir/>
          <dgm:animOne val="branch"/>
          <dgm:animLvl val="lvl"/>
        </dgm:presLayoutVars>
      </dgm:prSet>
      <dgm:spPr/>
    </dgm:pt>
    <dgm:pt modelId="{1423DED5-498A-4602-8440-856E8BE4C1D4}" type="pres">
      <dgm:prSet presAssocID="{C7D779FA-D8B5-4D84-9C75-ACE88BAF0F7B}" presName="thickLine" presStyleLbl="alignNode1" presStyleIdx="0" presStyleCnt="4"/>
      <dgm:spPr/>
    </dgm:pt>
    <dgm:pt modelId="{6220C203-9923-4094-AFA9-D4278776B393}" type="pres">
      <dgm:prSet presAssocID="{C7D779FA-D8B5-4D84-9C75-ACE88BAF0F7B}" presName="horz1" presStyleCnt="0"/>
      <dgm:spPr/>
    </dgm:pt>
    <dgm:pt modelId="{A2E693F1-FC52-4F27-B567-2C0380D91CC8}" type="pres">
      <dgm:prSet presAssocID="{C7D779FA-D8B5-4D84-9C75-ACE88BAF0F7B}" presName="tx1" presStyleLbl="revTx" presStyleIdx="0" presStyleCnt="4"/>
      <dgm:spPr/>
    </dgm:pt>
    <dgm:pt modelId="{4B7D1F74-7804-408F-B9F2-F6646E6CB022}" type="pres">
      <dgm:prSet presAssocID="{C7D779FA-D8B5-4D84-9C75-ACE88BAF0F7B}" presName="vert1" presStyleCnt="0"/>
      <dgm:spPr/>
    </dgm:pt>
    <dgm:pt modelId="{FF2778AF-598B-40F1-BF77-0150A1F8E47E}" type="pres">
      <dgm:prSet presAssocID="{F8FD17E8-4DC1-4ABF-A58A-72A4D87508AC}" presName="thickLine" presStyleLbl="alignNode1" presStyleIdx="1" presStyleCnt="4"/>
      <dgm:spPr/>
    </dgm:pt>
    <dgm:pt modelId="{B4A4AF9A-1A7A-4B02-BEBF-6661AD094D0E}" type="pres">
      <dgm:prSet presAssocID="{F8FD17E8-4DC1-4ABF-A58A-72A4D87508AC}" presName="horz1" presStyleCnt="0"/>
      <dgm:spPr/>
    </dgm:pt>
    <dgm:pt modelId="{C7352AC2-D34F-40A6-9872-804C1E62D993}" type="pres">
      <dgm:prSet presAssocID="{F8FD17E8-4DC1-4ABF-A58A-72A4D87508AC}" presName="tx1" presStyleLbl="revTx" presStyleIdx="1" presStyleCnt="4"/>
      <dgm:spPr/>
    </dgm:pt>
    <dgm:pt modelId="{EF66A3E0-D9D6-4822-9D6E-AFF45BA72912}" type="pres">
      <dgm:prSet presAssocID="{F8FD17E8-4DC1-4ABF-A58A-72A4D87508AC}" presName="vert1" presStyleCnt="0"/>
      <dgm:spPr/>
    </dgm:pt>
    <dgm:pt modelId="{9A9C76E6-C8BD-4620-94E5-DEF2B8428607}" type="pres">
      <dgm:prSet presAssocID="{94E863D2-2C50-4F4A-B498-AEA94413F595}" presName="thickLine" presStyleLbl="alignNode1" presStyleIdx="2" presStyleCnt="4"/>
      <dgm:spPr/>
    </dgm:pt>
    <dgm:pt modelId="{C5EF7D30-0AA6-4027-AEDB-80FA413FB52B}" type="pres">
      <dgm:prSet presAssocID="{94E863D2-2C50-4F4A-B498-AEA94413F595}" presName="horz1" presStyleCnt="0"/>
      <dgm:spPr/>
    </dgm:pt>
    <dgm:pt modelId="{70F3643E-B5AD-416D-9962-26C1546DE87D}" type="pres">
      <dgm:prSet presAssocID="{94E863D2-2C50-4F4A-B498-AEA94413F595}" presName="tx1" presStyleLbl="revTx" presStyleIdx="2" presStyleCnt="4"/>
      <dgm:spPr/>
    </dgm:pt>
    <dgm:pt modelId="{30C814CE-ABA5-474B-9AB5-C3FB19E2A1A1}" type="pres">
      <dgm:prSet presAssocID="{94E863D2-2C50-4F4A-B498-AEA94413F595}" presName="vert1" presStyleCnt="0"/>
      <dgm:spPr/>
    </dgm:pt>
    <dgm:pt modelId="{814E8C30-513A-4C6B-9FB8-14E5E76BA0E6}" type="pres">
      <dgm:prSet presAssocID="{555FE164-B5CF-42D0-B8EB-983FF1412707}" presName="thickLine" presStyleLbl="alignNode1" presStyleIdx="3" presStyleCnt="4"/>
      <dgm:spPr/>
    </dgm:pt>
    <dgm:pt modelId="{BD3DBCEE-5D65-4710-B6F7-835045062523}" type="pres">
      <dgm:prSet presAssocID="{555FE164-B5CF-42D0-B8EB-983FF1412707}" presName="horz1" presStyleCnt="0"/>
      <dgm:spPr/>
    </dgm:pt>
    <dgm:pt modelId="{9B04968B-29B9-42C1-B9EB-A8896F4A4FDD}" type="pres">
      <dgm:prSet presAssocID="{555FE164-B5CF-42D0-B8EB-983FF1412707}" presName="tx1" presStyleLbl="revTx" presStyleIdx="3" presStyleCnt="4"/>
      <dgm:spPr/>
    </dgm:pt>
    <dgm:pt modelId="{3186AC14-C140-4AB1-ACA9-EF4CC035C00F}" type="pres">
      <dgm:prSet presAssocID="{555FE164-B5CF-42D0-B8EB-983FF1412707}" presName="vert1" presStyleCnt="0"/>
      <dgm:spPr/>
    </dgm:pt>
  </dgm:ptLst>
  <dgm:cxnLst>
    <dgm:cxn modelId="{094D2C21-9B64-4E5A-AA76-8345FCCF35C0}" type="presOf" srcId="{F8FD17E8-4DC1-4ABF-A58A-72A4D87508AC}" destId="{C7352AC2-D34F-40A6-9872-804C1E62D993}" srcOrd="0" destOrd="0" presId="urn:microsoft.com/office/officeart/2008/layout/LinedList"/>
    <dgm:cxn modelId="{0A83C05D-1201-49EF-AD7D-BCD0FA8BC385}" srcId="{E7EA0A80-6E11-4337-B947-582D1721A6B7}" destId="{94E863D2-2C50-4F4A-B498-AEA94413F595}" srcOrd="2" destOrd="0" parTransId="{AF238B21-66D8-461F-B0C6-44EAC1CD9277}" sibTransId="{D8DDA04A-FDDB-4272-B104-399612F60ADD}"/>
    <dgm:cxn modelId="{70ADD461-8130-4F8B-BEA8-8BDA15714A04}" type="presOf" srcId="{C7D779FA-D8B5-4D84-9C75-ACE88BAF0F7B}" destId="{A2E693F1-FC52-4F27-B567-2C0380D91CC8}" srcOrd="0" destOrd="0" presId="urn:microsoft.com/office/officeart/2008/layout/LinedList"/>
    <dgm:cxn modelId="{AEC5B687-75C1-4776-8E90-662D856F0AEE}" type="presOf" srcId="{555FE164-B5CF-42D0-B8EB-983FF1412707}" destId="{9B04968B-29B9-42C1-B9EB-A8896F4A4FDD}" srcOrd="0" destOrd="0" presId="urn:microsoft.com/office/officeart/2008/layout/LinedList"/>
    <dgm:cxn modelId="{4546ED92-ECAC-47D0-89A5-E69E69B63007}" type="presOf" srcId="{94E863D2-2C50-4F4A-B498-AEA94413F595}" destId="{70F3643E-B5AD-416D-9962-26C1546DE87D}" srcOrd="0" destOrd="0" presId="urn:microsoft.com/office/officeart/2008/layout/LinedList"/>
    <dgm:cxn modelId="{550497A9-F1A6-4752-8994-2683303F0000}" srcId="{E7EA0A80-6E11-4337-B947-582D1721A6B7}" destId="{555FE164-B5CF-42D0-B8EB-983FF1412707}" srcOrd="3" destOrd="0" parTransId="{E5782818-FE2F-4AD8-9C65-0FF1FC021CD4}" sibTransId="{00D93174-7217-465D-B5CA-67F1238DA7FA}"/>
    <dgm:cxn modelId="{839DFDBA-BD4A-484A-A819-EBDDDB4632BF}" srcId="{E7EA0A80-6E11-4337-B947-582D1721A6B7}" destId="{F8FD17E8-4DC1-4ABF-A58A-72A4D87508AC}" srcOrd="1" destOrd="0" parTransId="{72324509-CD4D-4C5E-A193-A450B72AFC6B}" sibTransId="{94146FC1-0B82-4208-84ED-BBD943A9A758}"/>
    <dgm:cxn modelId="{F562E0CB-2FA0-4DF0-86CA-718F4A9B7FA9}" srcId="{E7EA0A80-6E11-4337-B947-582D1721A6B7}" destId="{C7D779FA-D8B5-4D84-9C75-ACE88BAF0F7B}" srcOrd="0" destOrd="0" parTransId="{3B3CB757-7335-427B-B6F0-EC42233BF97C}" sibTransId="{34BFE4A4-DFFD-45EC-B50B-7E8C32A61F8D}"/>
    <dgm:cxn modelId="{B3848EE0-1DBC-4265-9A84-84C7F92875B6}" type="presOf" srcId="{E7EA0A80-6E11-4337-B947-582D1721A6B7}" destId="{0C661359-EFBD-4ECA-8836-1E04A2CF6374}" srcOrd="0" destOrd="0" presId="urn:microsoft.com/office/officeart/2008/layout/LinedList"/>
    <dgm:cxn modelId="{E52B548D-CEC5-46FA-932D-0FD8590987E6}" type="presParOf" srcId="{0C661359-EFBD-4ECA-8836-1E04A2CF6374}" destId="{1423DED5-498A-4602-8440-856E8BE4C1D4}" srcOrd="0" destOrd="0" presId="urn:microsoft.com/office/officeart/2008/layout/LinedList"/>
    <dgm:cxn modelId="{582A3DF0-C08D-4FEE-ADE1-3264B931D29E}" type="presParOf" srcId="{0C661359-EFBD-4ECA-8836-1E04A2CF6374}" destId="{6220C203-9923-4094-AFA9-D4278776B393}" srcOrd="1" destOrd="0" presId="urn:microsoft.com/office/officeart/2008/layout/LinedList"/>
    <dgm:cxn modelId="{9285FB9E-80FB-4DC9-BCD6-CB54C422F4AA}" type="presParOf" srcId="{6220C203-9923-4094-AFA9-D4278776B393}" destId="{A2E693F1-FC52-4F27-B567-2C0380D91CC8}" srcOrd="0" destOrd="0" presId="urn:microsoft.com/office/officeart/2008/layout/LinedList"/>
    <dgm:cxn modelId="{6CF89259-78AF-40B8-8BE2-D0DE082D7895}" type="presParOf" srcId="{6220C203-9923-4094-AFA9-D4278776B393}" destId="{4B7D1F74-7804-408F-B9F2-F6646E6CB022}" srcOrd="1" destOrd="0" presId="urn:microsoft.com/office/officeart/2008/layout/LinedList"/>
    <dgm:cxn modelId="{045087EC-0462-4C45-A5F3-6572F011087A}" type="presParOf" srcId="{0C661359-EFBD-4ECA-8836-1E04A2CF6374}" destId="{FF2778AF-598B-40F1-BF77-0150A1F8E47E}" srcOrd="2" destOrd="0" presId="urn:microsoft.com/office/officeart/2008/layout/LinedList"/>
    <dgm:cxn modelId="{689A33CF-E9CA-4AF3-B687-0814C167E118}" type="presParOf" srcId="{0C661359-EFBD-4ECA-8836-1E04A2CF6374}" destId="{B4A4AF9A-1A7A-4B02-BEBF-6661AD094D0E}" srcOrd="3" destOrd="0" presId="urn:microsoft.com/office/officeart/2008/layout/LinedList"/>
    <dgm:cxn modelId="{214686D4-C237-4B9E-A1AA-F45F1CAC0074}" type="presParOf" srcId="{B4A4AF9A-1A7A-4B02-BEBF-6661AD094D0E}" destId="{C7352AC2-D34F-40A6-9872-804C1E62D993}" srcOrd="0" destOrd="0" presId="urn:microsoft.com/office/officeart/2008/layout/LinedList"/>
    <dgm:cxn modelId="{D0A8333C-8D28-4384-ADEB-191CF8CC512E}" type="presParOf" srcId="{B4A4AF9A-1A7A-4B02-BEBF-6661AD094D0E}" destId="{EF66A3E0-D9D6-4822-9D6E-AFF45BA72912}" srcOrd="1" destOrd="0" presId="urn:microsoft.com/office/officeart/2008/layout/LinedList"/>
    <dgm:cxn modelId="{8F591679-E437-4106-AA1E-26530C8A917A}" type="presParOf" srcId="{0C661359-EFBD-4ECA-8836-1E04A2CF6374}" destId="{9A9C76E6-C8BD-4620-94E5-DEF2B8428607}" srcOrd="4" destOrd="0" presId="urn:microsoft.com/office/officeart/2008/layout/LinedList"/>
    <dgm:cxn modelId="{3CA6654A-D3CF-4B6A-86F5-7C74FDA80985}" type="presParOf" srcId="{0C661359-EFBD-4ECA-8836-1E04A2CF6374}" destId="{C5EF7D30-0AA6-4027-AEDB-80FA413FB52B}" srcOrd="5" destOrd="0" presId="urn:microsoft.com/office/officeart/2008/layout/LinedList"/>
    <dgm:cxn modelId="{A1FE9201-01FF-484F-BDEF-A650CD80D5EC}" type="presParOf" srcId="{C5EF7D30-0AA6-4027-AEDB-80FA413FB52B}" destId="{70F3643E-B5AD-416D-9962-26C1546DE87D}" srcOrd="0" destOrd="0" presId="urn:microsoft.com/office/officeart/2008/layout/LinedList"/>
    <dgm:cxn modelId="{90D83828-120C-4A7F-A9D4-CD8C28ADDDB0}" type="presParOf" srcId="{C5EF7D30-0AA6-4027-AEDB-80FA413FB52B}" destId="{30C814CE-ABA5-474B-9AB5-C3FB19E2A1A1}" srcOrd="1" destOrd="0" presId="urn:microsoft.com/office/officeart/2008/layout/LinedList"/>
    <dgm:cxn modelId="{8436E5FE-4B45-49D6-AD53-D83CE78CDF9C}" type="presParOf" srcId="{0C661359-EFBD-4ECA-8836-1E04A2CF6374}" destId="{814E8C30-513A-4C6B-9FB8-14E5E76BA0E6}" srcOrd="6" destOrd="0" presId="urn:microsoft.com/office/officeart/2008/layout/LinedList"/>
    <dgm:cxn modelId="{6F06CD28-A75A-429B-A0F2-75FE784601DD}" type="presParOf" srcId="{0C661359-EFBD-4ECA-8836-1E04A2CF6374}" destId="{BD3DBCEE-5D65-4710-B6F7-835045062523}" srcOrd="7" destOrd="0" presId="urn:microsoft.com/office/officeart/2008/layout/LinedList"/>
    <dgm:cxn modelId="{25707A2C-8FAB-46E1-AAE8-40A0A058711C}" type="presParOf" srcId="{BD3DBCEE-5D65-4710-B6F7-835045062523}" destId="{9B04968B-29B9-42C1-B9EB-A8896F4A4FDD}" srcOrd="0" destOrd="0" presId="urn:microsoft.com/office/officeart/2008/layout/LinedList"/>
    <dgm:cxn modelId="{6EFBB4B6-C826-4754-B538-A4743F4275CC}" type="presParOf" srcId="{BD3DBCEE-5D65-4710-B6F7-835045062523}" destId="{3186AC14-C140-4AB1-ACA9-EF4CC035C0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3BB90A-6A93-43B3-B456-3AC2AE51D75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D643D1-B3F6-40B4-8C93-0BD9724BD7ED}">
      <dgm:prSet/>
      <dgm:spPr/>
      <dgm:t>
        <a:bodyPr/>
        <a:lstStyle/>
        <a:p>
          <a:r>
            <a:rPr lang="pt-BR"/>
            <a:t>LLMs podem inventar rotas que não existem na aplicação.</a:t>
          </a:r>
          <a:endParaRPr lang="en-US"/>
        </a:p>
      </dgm:t>
    </dgm:pt>
    <dgm:pt modelId="{C45BB3D6-90B4-4A6A-A721-5F6895BF0CD3}" type="parTrans" cxnId="{08ABEB6A-B31A-444C-92CB-6593089D1155}">
      <dgm:prSet/>
      <dgm:spPr/>
      <dgm:t>
        <a:bodyPr/>
        <a:lstStyle/>
        <a:p>
          <a:endParaRPr lang="en-US"/>
        </a:p>
      </dgm:t>
    </dgm:pt>
    <dgm:pt modelId="{DB717D36-3F8C-4B02-8FB7-04B757D04E46}" type="sibTrans" cxnId="{08ABEB6A-B31A-444C-92CB-6593089D1155}">
      <dgm:prSet/>
      <dgm:spPr/>
      <dgm:t>
        <a:bodyPr/>
        <a:lstStyle/>
        <a:p>
          <a:endParaRPr lang="en-US"/>
        </a:p>
      </dgm:t>
    </dgm:pt>
    <dgm:pt modelId="{767C5FC8-9300-4941-A89C-8D5EEC4170E9}">
      <dgm:prSet/>
      <dgm:spPr/>
      <dgm:t>
        <a:bodyPr/>
        <a:lstStyle/>
        <a:p>
          <a:r>
            <a:rPr lang="pt-BR"/>
            <a:t>Podem usar seletores frágeis ou inexistentes.</a:t>
          </a:r>
          <a:endParaRPr lang="en-US"/>
        </a:p>
      </dgm:t>
    </dgm:pt>
    <dgm:pt modelId="{78FA2573-15C4-4E98-A5B1-DF6CFEE52272}" type="parTrans" cxnId="{BC7309AA-4377-4822-9572-F16EDE49E112}">
      <dgm:prSet/>
      <dgm:spPr/>
      <dgm:t>
        <a:bodyPr/>
        <a:lstStyle/>
        <a:p>
          <a:endParaRPr lang="en-US"/>
        </a:p>
      </dgm:t>
    </dgm:pt>
    <dgm:pt modelId="{7799E7DE-466D-4296-95C2-72D0F76EE490}" type="sibTrans" cxnId="{BC7309AA-4377-4822-9572-F16EDE49E112}">
      <dgm:prSet/>
      <dgm:spPr/>
      <dgm:t>
        <a:bodyPr/>
        <a:lstStyle/>
        <a:p>
          <a:endParaRPr lang="en-US"/>
        </a:p>
      </dgm:t>
    </dgm:pt>
    <dgm:pt modelId="{2372FBB2-1993-4A41-87DC-E4CE05BF7BF8}">
      <dgm:prSet/>
      <dgm:spPr/>
      <dgm:t>
        <a:bodyPr/>
        <a:lstStyle/>
        <a:p>
          <a:r>
            <a:rPr lang="pt-BR"/>
            <a:t>Podem escolher textos e elementos que não aparecem na interface.</a:t>
          </a:r>
          <a:endParaRPr lang="en-US"/>
        </a:p>
      </dgm:t>
    </dgm:pt>
    <dgm:pt modelId="{03402BB6-2A5C-47C1-93E0-E7B802B7D26E}" type="parTrans" cxnId="{ABC8C584-1AD5-4084-8563-6275C26B02FE}">
      <dgm:prSet/>
      <dgm:spPr/>
      <dgm:t>
        <a:bodyPr/>
        <a:lstStyle/>
        <a:p>
          <a:endParaRPr lang="en-US"/>
        </a:p>
      </dgm:t>
    </dgm:pt>
    <dgm:pt modelId="{B6711188-C5D2-4AA0-AAD7-9320001F9747}" type="sibTrans" cxnId="{ABC8C584-1AD5-4084-8563-6275C26B02FE}">
      <dgm:prSet/>
      <dgm:spPr/>
      <dgm:t>
        <a:bodyPr/>
        <a:lstStyle/>
        <a:p>
          <a:endParaRPr lang="en-US"/>
        </a:p>
      </dgm:t>
    </dgm:pt>
    <dgm:pt modelId="{7D4C67B7-26F8-4664-8015-BA1BE27840BF}">
      <dgm:prSet/>
      <dgm:spPr/>
      <dgm:t>
        <a:bodyPr/>
        <a:lstStyle/>
        <a:p>
          <a:r>
            <a:rPr lang="pt-BR" dirty="0"/>
            <a:t>Podem gerar fluxos incompatíveis com a navegação real.</a:t>
          </a:r>
          <a:endParaRPr lang="en-US" dirty="0"/>
        </a:p>
      </dgm:t>
    </dgm:pt>
    <dgm:pt modelId="{2FAD57D7-281F-4D88-A37E-7321B76821CE}" type="parTrans" cxnId="{7CDA41AB-7510-411C-903B-E8578303DE2C}">
      <dgm:prSet/>
      <dgm:spPr/>
      <dgm:t>
        <a:bodyPr/>
        <a:lstStyle/>
        <a:p>
          <a:endParaRPr lang="en-US"/>
        </a:p>
      </dgm:t>
    </dgm:pt>
    <dgm:pt modelId="{9F01DDEE-2451-4AD9-BFCD-2ACEA8C0B528}" type="sibTrans" cxnId="{7CDA41AB-7510-411C-903B-E8578303DE2C}">
      <dgm:prSet/>
      <dgm:spPr/>
      <dgm:t>
        <a:bodyPr/>
        <a:lstStyle/>
        <a:p>
          <a:endParaRPr lang="en-US"/>
        </a:p>
      </dgm:t>
    </dgm:pt>
    <dgm:pt modelId="{EB0FFA79-966C-400D-A49B-7BC356DBC846}" type="pres">
      <dgm:prSet presAssocID="{7E3BB90A-6A93-43B3-B456-3AC2AE51D758}" presName="diagram" presStyleCnt="0">
        <dgm:presLayoutVars>
          <dgm:dir/>
          <dgm:resizeHandles val="exact"/>
        </dgm:presLayoutVars>
      </dgm:prSet>
      <dgm:spPr/>
    </dgm:pt>
    <dgm:pt modelId="{74FEB90C-391B-4D77-A682-59DD5B490CF6}" type="pres">
      <dgm:prSet presAssocID="{C8D643D1-B3F6-40B4-8C93-0BD9724BD7ED}" presName="node" presStyleLbl="node1" presStyleIdx="0" presStyleCnt="4">
        <dgm:presLayoutVars>
          <dgm:bulletEnabled val="1"/>
        </dgm:presLayoutVars>
      </dgm:prSet>
      <dgm:spPr/>
    </dgm:pt>
    <dgm:pt modelId="{E884BEC3-0C53-4E39-B7C4-1BC8923C9EF8}" type="pres">
      <dgm:prSet presAssocID="{DB717D36-3F8C-4B02-8FB7-04B757D04E46}" presName="sibTrans" presStyleCnt="0"/>
      <dgm:spPr/>
    </dgm:pt>
    <dgm:pt modelId="{30F47147-1339-41D3-BF68-D5911FEC4EED}" type="pres">
      <dgm:prSet presAssocID="{767C5FC8-9300-4941-A89C-8D5EEC4170E9}" presName="node" presStyleLbl="node1" presStyleIdx="1" presStyleCnt="4">
        <dgm:presLayoutVars>
          <dgm:bulletEnabled val="1"/>
        </dgm:presLayoutVars>
      </dgm:prSet>
      <dgm:spPr/>
    </dgm:pt>
    <dgm:pt modelId="{51FA2259-F49F-44FE-B72E-3F4B26D657EB}" type="pres">
      <dgm:prSet presAssocID="{7799E7DE-466D-4296-95C2-72D0F76EE490}" presName="sibTrans" presStyleCnt="0"/>
      <dgm:spPr/>
    </dgm:pt>
    <dgm:pt modelId="{86AAB46E-C0AE-4D74-BC5D-EC0BA025FD60}" type="pres">
      <dgm:prSet presAssocID="{2372FBB2-1993-4A41-87DC-E4CE05BF7BF8}" presName="node" presStyleLbl="node1" presStyleIdx="2" presStyleCnt="4">
        <dgm:presLayoutVars>
          <dgm:bulletEnabled val="1"/>
        </dgm:presLayoutVars>
      </dgm:prSet>
      <dgm:spPr/>
    </dgm:pt>
    <dgm:pt modelId="{ABB6F7B5-F6AA-40EA-ADA0-C82C0A7EF44D}" type="pres">
      <dgm:prSet presAssocID="{B6711188-C5D2-4AA0-AAD7-9320001F9747}" presName="sibTrans" presStyleCnt="0"/>
      <dgm:spPr/>
    </dgm:pt>
    <dgm:pt modelId="{BF8A38E7-45CE-4EAF-A46A-0D94ACD52156}" type="pres">
      <dgm:prSet presAssocID="{7D4C67B7-26F8-4664-8015-BA1BE27840BF}" presName="node" presStyleLbl="node1" presStyleIdx="3" presStyleCnt="4">
        <dgm:presLayoutVars>
          <dgm:bulletEnabled val="1"/>
        </dgm:presLayoutVars>
      </dgm:prSet>
      <dgm:spPr/>
    </dgm:pt>
  </dgm:ptLst>
  <dgm:cxnLst>
    <dgm:cxn modelId="{6487B125-BA58-499C-9B4E-E6DF79254365}" type="presOf" srcId="{2372FBB2-1993-4A41-87DC-E4CE05BF7BF8}" destId="{86AAB46E-C0AE-4D74-BC5D-EC0BA025FD60}" srcOrd="0" destOrd="0" presId="urn:microsoft.com/office/officeart/2005/8/layout/default"/>
    <dgm:cxn modelId="{08ABEB6A-B31A-444C-92CB-6593089D1155}" srcId="{7E3BB90A-6A93-43B3-B456-3AC2AE51D758}" destId="{C8D643D1-B3F6-40B4-8C93-0BD9724BD7ED}" srcOrd="0" destOrd="0" parTransId="{C45BB3D6-90B4-4A6A-A721-5F6895BF0CD3}" sibTransId="{DB717D36-3F8C-4B02-8FB7-04B757D04E46}"/>
    <dgm:cxn modelId="{58733656-FC0C-41EF-9B41-9F3F10B3D678}" type="presOf" srcId="{7D4C67B7-26F8-4664-8015-BA1BE27840BF}" destId="{BF8A38E7-45CE-4EAF-A46A-0D94ACD52156}" srcOrd="0" destOrd="0" presId="urn:microsoft.com/office/officeart/2005/8/layout/default"/>
    <dgm:cxn modelId="{ABC8C584-1AD5-4084-8563-6275C26B02FE}" srcId="{7E3BB90A-6A93-43B3-B456-3AC2AE51D758}" destId="{2372FBB2-1993-4A41-87DC-E4CE05BF7BF8}" srcOrd="2" destOrd="0" parTransId="{03402BB6-2A5C-47C1-93E0-E7B802B7D26E}" sibTransId="{B6711188-C5D2-4AA0-AAD7-9320001F9747}"/>
    <dgm:cxn modelId="{11D00B98-7C49-4043-8B93-356E780F74DF}" type="presOf" srcId="{C8D643D1-B3F6-40B4-8C93-0BD9724BD7ED}" destId="{74FEB90C-391B-4D77-A682-59DD5B490CF6}" srcOrd="0" destOrd="0" presId="urn:microsoft.com/office/officeart/2005/8/layout/default"/>
    <dgm:cxn modelId="{BC7309AA-4377-4822-9572-F16EDE49E112}" srcId="{7E3BB90A-6A93-43B3-B456-3AC2AE51D758}" destId="{767C5FC8-9300-4941-A89C-8D5EEC4170E9}" srcOrd="1" destOrd="0" parTransId="{78FA2573-15C4-4E98-A5B1-DF6CFEE52272}" sibTransId="{7799E7DE-466D-4296-95C2-72D0F76EE490}"/>
    <dgm:cxn modelId="{7CDA41AB-7510-411C-903B-E8578303DE2C}" srcId="{7E3BB90A-6A93-43B3-B456-3AC2AE51D758}" destId="{7D4C67B7-26F8-4664-8015-BA1BE27840BF}" srcOrd="3" destOrd="0" parTransId="{2FAD57D7-281F-4D88-A37E-7321B76821CE}" sibTransId="{9F01DDEE-2451-4AD9-BFCD-2ACEA8C0B528}"/>
    <dgm:cxn modelId="{60F73DB9-62E2-4908-9406-95B8EE51EF45}" type="presOf" srcId="{767C5FC8-9300-4941-A89C-8D5EEC4170E9}" destId="{30F47147-1339-41D3-BF68-D5911FEC4EED}" srcOrd="0" destOrd="0" presId="urn:microsoft.com/office/officeart/2005/8/layout/default"/>
    <dgm:cxn modelId="{C69D3DDC-A7CD-4C34-BC2A-C317A9DD7542}" type="presOf" srcId="{7E3BB90A-6A93-43B3-B456-3AC2AE51D758}" destId="{EB0FFA79-966C-400D-A49B-7BC356DBC846}" srcOrd="0" destOrd="0" presId="urn:microsoft.com/office/officeart/2005/8/layout/default"/>
    <dgm:cxn modelId="{C9FD68FB-DC4A-4B17-82B5-F3B4CBDCA182}" type="presParOf" srcId="{EB0FFA79-966C-400D-A49B-7BC356DBC846}" destId="{74FEB90C-391B-4D77-A682-59DD5B490CF6}" srcOrd="0" destOrd="0" presId="urn:microsoft.com/office/officeart/2005/8/layout/default"/>
    <dgm:cxn modelId="{F660F8C7-CE74-457E-B851-44B4105B27EE}" type="presParOf" srcId="{EB0FFA79-966C-400D-A49B-7BC356DBC846}" destId="{E884BEC3-0C53-4E39-B7C4-1BC8923C9EF8}" srcOrd="1" destOrd="0" presId="urn:microsoft.com/office/officeart/2005/8/layout/default"/>
    <dgm:cxn modelId="{91884DAB-D697-4B1A-9686-F0ADD116AC78}" type="presParOf" srcId="{EB0FFA79-966C-400D-A49B-7BC356DBC846}" destId="{30F47147-1339-41D3-BF68-D5911FEC4EED}" srcOrd="2" destOrd="0" presId="urn:microsoft.com/office/officeart/2005/8/layout/default"/>
    <dgm:cxn modelId="{9F921603-265B-43B3-A97D-9B50D8A4F348}" type="presParOf" srcId="{EB0FFA79-966C-400D-A49B-7BC356DBC846}" destId="{51FA2259-F49F-44FE-B72E-3F4B26D657EB}" srcOrd="3" destOrd="0" presId="urn:microsoft.com/office/officeart/2005/8/layout/default"/>
    <dgm:cxn modelId="{252B2487-F7FC-420C-AAD8-AFADAC740666}" type="presParOf" srcId="{EB0FFA79-966C-400D-A49B-7BC356DBC846}" destId="{86AAB46E-C0AE-4D74-BC5D-EC0BA025FD60}" srcOrd="4" destOrd="0" presId="urn:microsoft.com/office/officeart/2005/8/layout/default"/>
    <dgm:cxn modelId="{5904177D-B083-4E09-9368-2CFC8DB8110B}" type="presParOf" srcId="{EB0FFA79-966C-400D-A49B-7BC356DBC846}" destId="{ABB6F7B5-F6AA-40EA-ADA0-C82C0A7EF44D}" srcOrd="5" destOrd="0" presId="urn:microsoft.com/office/officeart/2005/8/layout/default"/>
    <dgm:cxn modelId="{60552480-EB53-4074-ACA7-0DB8CC497CDD}" type="presParOf" srcId="{EB0FFA79-966C-400D-A49B-7BC356DBC846}" destId="{BF8A38E7-45CE-4EAF-A46A-0D94ACD5215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3BAA82-02A4-4E10-A4EB-FB0DFA0DEEB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8BFAB8-6FD4-4FF2-8E24-C43A59343207}">
      <dgm:prSet/>
      <dgm:spPr/>
      <dgm:t>
        <a:bodyPr/>
        <a:lstStyle/>
        <a:p>
          <a:r>
            <a:rPr lang="pt-BR" dirty="0"/>
            <a:t>Como fornecer contexto estruturado, extraído automaticamente da aplicação, para apoiar LLMs na geração de testes E2E mais consistentes à interface real?</a:t>
          </a:r>
          <a:endParaRPr lang="en-US" dirty="0"/>
        </a:p>
      </dgm:t>
    </dgm:pt>
    <dgm:pt modelId="{095F45E1-3536-431C-B9D4-C963018D02D7}" type="parTrans" cxnId="{396E00D8-F552-47E8-954A-EE81A2BC18F4}">
      <dgm:prSet/>
      <dgm:spPr/>
      <dgm:t>
        <a:bodyPr/>
        <a:lstStyle/>
        <a:p>
          <a:endParaRPr lang="en-US"/>
        </a:p>
      </dgm:t>
    </dgm:pt>
    <dgm:pt modelId="{D2F4E1AE-29F9-47F0-AF65-C65A2ED31703}" type="sibTrans" cxnId="{396E00D8-F552-47E8-954A-EE81A2BC18F4}">
      <dgm:prSet/>
      <dgm:spPr/>
      <dgm:t>
        <a:bodyPr/>
        <a:lstStyle/>
        <a:p>
          <a:endParaRPr lang="en-US"/>
        </a:p>
      </dgm:t>
    </dgm:pt>
    <dgm:pt modelId="{6CE74722-426B-4151-9D39-CC890664E948}" type="pres">
      <dgm:prSet presAssocID="{3F3BAA82-02A4-4E10-A4EB-FB0DFA0DEEB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06B1451-C85E-4145-BF9A-06F742FB39CC}" type="pres">
      <dgm:prSet presAssocID="{698BFAB8-6FD4-4FF2-8E24-C43A59343207}" presName="hierRoot1" presStyleCnt="0"/>
      <dgm:spPr/>
    </dgm:pt>
    <dgm:pt modelId="{0D39AA9A-A673-4710-BAFA-2178AD51E2DC}" type="pres">
      <dgm:prSet presAssocID="{698BFAB8-6FD4-4FF2-8E24-C43A59343207}" presName="composite" presStyleCnt="0"/>
      <dgm:spPr/>
    </dgm:pt>
    <dgm:pt modelId="{E8E933CE-3C3F-41A6-A565-697C723DDF4D}" type="pres">
      <dgm:prSet presAssocID="{698BFAB8-6FD4-4FF2-8E24-C43A59343207}" presName="background" presStyleLbl="node0" presStyleIdx="0" presStyleCnt="1"/>
      <dgm:spPr/>
    </dgm:pt>
    <dgm:pt modelId="{56D0754A-428E-4FAD-8DF4-102F497A18C0}" type="pres">
      <dgm:prSet presAssocID="{698BFAB8-6FD4-4FF2-8E24-C43A59343207}" presName="text" presStyleLbl="fgAcc0" presStyleIdx="0" presStyleCnt="1">
        <dgm:presLayoutVars>
          <dgm:chPref val="3"/>
        </dgm:presLayoutVars>
      </dgm:prSet>
      <dgm:spPr/>
    </dgm:pt>
    <dgm:pt modelId="{738B07B1-0F05-48FC-BBD9-872C7DFF55B6}" type="pres">
      <dgm:prSet presAssocID="{698BFAB8-6FD4-4FF2-8E24-C43A59343207}" presName="hierChild2" presStyleCnt="0"/>
      <dgm:spPr/>
    </dgm:pt>
  </dgm:ptLst>
  <dgm:cxnLst>
    <dgm:cxn modelId="{B1666457-FF26-4FE7-8959-7F3DA6197DD8}" type="presOf" srcId="{698BFAB8-6FD4-4FF2-8E24-C43A59343207}" destId="{56D0754A-428E-4FAD-8DF4-102F497A18C0}" srcOrd="0" destOrd="0" presId="urn:microsoft.com/office/officeart/2005/8/layout/hierarchy1"/>
    <dgm:cxn modelId="{FA49BD8D-A754-48B0-85A1-11E968ECB64B}" type="presOf" srcId="{3F3BAA82-02A4-4E10-A4EB-FB0DFA0DEEBC}" destId="{6CE74722-426B-4151-9D39-CC890664E948}" srcOrd="0" destOrd="0" presId="urn:microsoft.com/office/officeart/2005/8/layout/hierarchy1"/>
    <dgm:cxn modelId="{396E00D8-F552-47E8-954A-EE81A2BC18F4}" srcId="{3F3BAA82-02A4-4E10-A4EB-FB0DFA0DEEBC}" destId="{698BFAB8-6FD4-4FF2-8E24-C43A59343207}" srcOrd="0" destOrd="0" parTransId="{095F45E1-3536-431C-B9D4-C963018D02D7}" sibTransId="{D2F4E1AE-29F9-47F0-AF65-C65A2ED31703}"/>
    <dgm:cxn modelId="{AB7D9CF0-8209-4D49-A3EA-A23E07AD5350}" type="presParOf" srcId="{6CE74722-426B-4151-9D39-CC890664E948}" destId="{706B1451-C85E-4145-BF9A-06F742FB39CC}" srcOrd="0" destOrd="0" presId="urn:microsoft.com/office/officeart/2005/8/layout/hierarchy1"/>
    <dgm:cxn modelId="{5F7F9955-F8B1-4B2D-9A72-DEA8617B043F}" type="presParOf" srcId="{706B1451-C85E-4145-BF9A-06F742FB39CC}" destId="{0D39AA9A-A673-4710-BAFA-2178AD51E2DC}" srcOrd="0" destOrd="0" presId="urn:microsoft.com/office/officeart/2005/8/layout/hierarchy1"/>
    <dgm:cxn modelId="{E8D7A6A1-EF98-4BD9-81A3-2CC58947ADFA}" type="presParOf" srcId="{0D39AA9A-A673-4710-BAFA-2178AD51E2DC}" destId="{E8E933CE-3C3F-41A6-A565-697C723DDF4D}" srcOrd="0" destOrd="0" presId="urn:microsoft.com/office/officeart/2005/8/layout/hierarchy1"/>
    <dgm:cxn modelId="{886D006A-DBA8-48DA-871F-5DD459F543EE}" type="presParOf" srcId="{0D39AA9A-A673-4710-BAFA-2178AD51E2DC}" destId="{56D0754A-428E-4FAD-8DF4-102F497A18C0}" srcOrd="1" destOrd="0" presId="urn:microsoft.com/office/officeart/2005/8/layout/hierarchy1"/>
    <dgm:cxn modelId="{C0CC2072-D9EC-41DD-9CC8-2643B1C5BC53}" type="presParOf" srcId="{706B1451-C85E-4145-BF9A-06F742FB39CC}" destId="{738B07B1-0F05-48FC-BBD9-872C7DFF55B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650FB7-B2F4-4624-B008-7985874112E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620415-D20F-47FE-B2D6-1795821D0647}">
      <dgm:prSet/>
      <dgm:spPr/>
      <dgm:t>
        <a:bodyPr/>
        <a:lstStyle/>
        <a:p>
          <a:r>
            <a:rPr lang="pt-BR"/>
            <a:t>Reduzir alucinações em código de teste gerado por IA.</a:t>
          </a:r>
          <a:endParaRPr lang="en-US"/>
        </a:p>
      </dgm:t>
    </dgm:pt>
    <dgm:pt modelId="{A33E9AB3-7B7E-4489-B2C2-A6D5E9728AC7}" type="parTrans" cxnId="{852B8AD3-8555-42F7-910F-55869C83AF85}">
      <dgm:prSet/>
      <dgm:spPr/>
      <dgm:t>
        <a:bodyPr/>
        <a:lstStyle/>
        <a:p>
          <a:endParaRPr lang="en-US"/>
        </a:p>
      </dgm:t>
    </dgm:pt>
    <dgm:pt modelId="{018CC633-1A80-4057-B930-F73B698EFDCB}" type="sibTrans" cxnId="{852B8AD3-8555-42F7-910F-55869C83AF85}">
      <dgm:prSet/>
      <dgm:spPr/>
      <dgm:t>
        <a:bodyPr/>
        <a:lstStyle/>
        <a:p>
          <a:endParaRPr lang="en-US"/>
        </a:p>
      </dgm:t>
    </dgm:pt>
    <dgm:pt modelId="{6F50EB52-6036-4080-90AB-BA56707103BD}">
      <dgm:prSet/>
      <dgm:spPr/>
      <dgm:t>
        <a:bodyPr/>
        <a:lstStyle/>
        <a:p>
          <a:r>
            <a:rPr lang="pt-BR" dirty="0"/>
            <a:t>Reduzir o esforço inicial para criar testes E2E de regressão.</a:t>
          </a:r>
          <a:endParaRPr lang="en-US" dirty="0"/>
        </a:p>
      </dgm:t>
    </dgm:pt>
    <dgm:pt modelId="{FCB2A030-F3F5-4A4F-9602-A12AC2B596CC}" type="parTrans" cxnId="{0715D9D0-1CE3-484F-89DF-885397EE7BAA}">
      <dgm:prSet/>
      <dgm:spPr/>
      <dgm:t>
        <a:bodyPr/>
        <a:lstStyle/>
        <a:p>
          <a:endParaRPr lang="en-US"/>
        </a:p>
      </dgm:t>
    </dgm:pt>
    <dgm:pt modelId="{80D5F3B7-389E-47CA-A47C-45D62CEC1837}" type="sibTrans" cxnId="{0715D9D0-1CE3-484F-89DF-885397EE7BAA}">
      <dgm:prSet/>
      <dgm:spPr/>
      <dgm:t>
        <a:bodyPr/>
        <a:lstStyle/>
        <a:p>
          <a:endParaRPr lang="en-US"/>
        </a:p>
      </dgm:t>
    </dgm:pt>
    <dgm:pt modelId="{2357DDAE-5144-4421-B873-C379A21CA005}">
      <dgm:prSet/>
      <dgm:spPr/>
      <dgm:t>
        <a:bodyPr/>
        <a:lstStyle/>
        <a:p>
          <a:r>
            <a:rPr lang="pt-BR" dirty="0"/>
            <a:t>Permitir relacionar cada passo do teste às evidências encontradas na interface.</a:t>
          </a:r>
          <a:endParaRPr lang="en-US" dirty="0"/>
        </a:p>
      </dgm:t>
    </dgm:pt>
    <dgm:pt modelId="{B40226BF-16ED-4631-B18A-F042576BAAD6}" type="parTrans" cxnId="{452AAE58-059B-4CD0-B968-5F5849F31EFA}">
      <dgm:prSet/>
      <dgm:spPr/>
      <dgm:t>
        <a:bodyPr/>
        <a:lstStyle/>
        <a:p>
          <a:endParaRPr lang="en-US"/>
        </a:p>
      </dgm:t>
    </dgm:pt>
    <dgm:pt modelId="{80C72BC5-CECB-4ADD-8203-6A113DBA49A6}" type="sibTrans" cxnId="{452AAE58-059B-4CD0-B968-5F5849F31EFA}">
      <dgm:prSet/>
      <dgm:spPr/>
      <dgm:t>
        <a:bodyPr/>
        <a:lstStyle/>
        <a:p>
          <a:endParaRPr lang="en-US"/>
        </a:p>
      </dgm:t>
    </dgm:pt>
    <dgm:pt modelId="{A1AF32F7-DCC8-4CE2-9B81-FFB41D57DBE2}">
      <dgm:prSet/>
      <dgm:spPr/>
      <dgm:t>
        <a:bodyPr/>
        <a:lstStyle/>
        <a:p>
          <a:r>
            <a:rPr lang="pt-BR"/>
            <a:t>Favorecer seletores mais robustos e legíveis.</a:t>
          </a:r>
          <a:endParaRPr lang="en-US"/>
        </a:p>
      </dgm:t>
    </dgm:pt>
    <dgm:pt modelId="{3C932191-9CBE-4015-8584-C413D6EBE0B9}" type="parTrans" cxnId="{BDAC99C9-CFE6-4F2A-954E-C32FF100A9E8}">
      <dgm:prSet/>
      <dgm:spPr/>
      <dgm:t>
        <a:bodyPr/>
        <a:lstStyle/>
        <a:p>
          <a:endParaRPr lang="en-US"/>
        </a:p>
      </dgm:t>
    </dgm:pt>
    <dgm:pt modelId="{98D25C52-DE03-49DD-8A8F-08575C77D52A}" type="sibTrans" cxnId="{BDAC99C9-CFE6-4F2A-954E-C32FF100A9E8}">
      <dgm:prSet/>
      <dgm:spPr/>
      <dgm:t>
        <a:bodyPr/>
        <a:lstStyle/>
        <a:p>
          <a:endParaRPr lang="en-US"/>
        </a:p>
      </dgm:t>
    </dgm:pt>
    <dgm:pt modelId="{F42EBBB7-DF66-4F23-B9CC-B6AB5B58F368}">
      <dgm:prSet/>
      <dgm:spPr/>
      <dgm:t>
        <a:bodyPr/>
        <a:lstStyle/>
        <a:p>
          <a:r>
            <a:rPr lang="pt-BR" dirty="0"/>
            <a:t>Tornar o processo de geração mais revisável e auditável.</a:t>
          </a:r>
          <a:endParaRPr lang="en-US" dirty="0"/>
        </a:p>
      </dgm:t>
    </dgm:pt>
    <dgm:pt modelId="{9D2E75A7-2049-4923-AD6D-AF62B939E0BC}" type="parTrans" cxnId="{38974ACE-FFDE-40CC-819B-050936C57385}">
      <dgm:prSet/>
      <dgm:spPr/>
      <dgm:t>
        <a:bodyPr/>
        <a:lstStyle/>
        <a:p>
          <a:endParaRPr lang="en-US"/>
        </a:p>
      </dgm:t>
    </dgm:pt>
    <dgm:pt modelId="{22B4C6EF-5549-4696-9B17-F85EC0B30ABA}" type="sibTrans" cxnId="{38974ACE-FFDE-40CC-819B-050936C57385}">
      <dgm:prSet/>
      <dgm:spPr/>
      <dgm:t>
        <a:bodyPr/>
        <a:lstStyle/>
        <a:p>
          <a:endParaRPr lang="en-US"/>
        </a:p>
      </dgm:t>
    </dgm:pt>
    <dgm:pt modelId="{34D378F1-AA64-4477-A9D1-AC59A21BE8B7}" type="pres">
      <dgm:prSet presAssocID="{9E650FB7-B2F4-4624-B008-7985874112E6}" presName="vert0" presStyleCnt="0">
        <dgm:presLayoutVars>
          <dgm:dir/>
          <dgm:animOne val="branch"/>
          <dgm:animLvl val="lvl"/>
        </dgm:presLayoutVars>
      </dgm:prSet>
      <dgm:spPr/>
    </dgm:pt>
    <dgm:pt modelId="{3ECE53A9-A309-4688-8A09-E687ABF8DC29}" type="pres">
      <dgm:prSet presAssocID="{B6620415-D20F-47FE-B2D6-1795821D0647}" presName="thickLine" presStyleLbl="alignNode1" presStyleIdx="0" presStyleCnt="5"/>
      <dgm:spPr/>
    </dgm:pt>
    <dgm:pt modelId="{43FB76AE-0BCD-4844-BDC4-18DDDBBCE7B0}" type="pres">
      <dgm:prSet presAssocID="{B6620415-D20F-47FE-B2D6-1795821D0647}" presName="horz1" presStyleCnt="0"/>
      <dgm:spPr/>
    </dgm:pt>
    <dgm:pt modelId="{0995FBD8-76B5-482E-8FFD-4F8268F318CB}" type="pres">
      <dgm:prSet presAssocID="{B6620415-D20F-47FE-B2D6-1795821D0647}" presName="tx1" presStyleLbl="revTx" presStyleIdx="0" presStyleCnt="5"/>
      <dgm:spPr/>
    </dgm:pt>
    <dgm:pt modelId="{A2EC4FEF-A8C8-4D2C-B6F7-83CAAFA37480}" type="pres">
      <dgm:prSet presAssocID="{B6620415-D20F-47FE-B2D6-1795821D0647}" presName="vert1" presStyleCnt="0"/>
      <dgm:spPr/>
    </dgm:pt>
    <dgm:pt modelId="{565EC386-C50D-4ADA-9918-E2370C81C187}" type="pres">
      <dgm:prSet presAssocID="{6F50EB52-6036-4080-90AB-BA56707103BD}" presName="thickLine" presStyleLbl="alignNode1" presStyleIdx="1" presStyleCnt="5"/>
      <dgm:spPr/>
    </dgm:pt>
    <dgm:pt modelId="{5EBEC591-3C02-476C-B153-4E6247F551E4}" type="pres">
      <dgm:prSet presAssocID="{6F50EB52-6036-4080-90AB-BA56707103BD}" presName="horz1" presStyleCnt="0"/>
      <dgm:spPr/>
    </dgm:pt>
    <dgm:pt modelId="{AA9896C4-FE30-4446-84DD-4363772EB466}" type="pres">
      <dgm:prSet presAssocID="{6F50EB52-6036-4080-90AB-BA56707103BD}" presName="tx1" presStyleLbl="revTx" presStyleIdx="1" presStyleCnt="5"/>
      <dgm:spPr/>
    </dgm:pt>
    <dgm:pt modelId="{D6AD159E-1DC3-4F5F-893C-185E2AE42A5A}" type="pres">
      <dgm:prSet presAssocID="{6F50EB52-6036-4080-90AB-BA56707103BD}" presName="vert1" presStyleCnt="0"/>
      <dgm:spPr/>
    </dgm:pt>
    <dgm:pt modelId="{B3CD5EEC-D300-4636-BAD6-BBE30DB573EB}" type="pres">
      <dgm:prSet presAssocID="{2357DDAE-5144-4421-B873-C379A21CA005}" presName="thickLine" presStyleLbl="alignNode1" presStyleIdx="2" presStyleCnt="5"/>
      <dgm:spPr/>
    </dgm:pt>
    <dgm:pt modelId="{C3A41307-A307-4B00-AF34-33BFA586483C}" type="pres">
      <dgm:prSet presAssocID="{2357DDAE-5144-4421-B873-C379A21CA005}" presName="horz1" presStyleCnt="0"/>
      <dgm:spPr/>
    </dgm:pt>
    <dgm:pt modelId="{AB395A11-5B45-4300-A7C3-5C84A69B2EBF}" type="pres">
      <dgm:prSet presAssocID="{2357DDAE-5144-4421-B873-C379A21CA005}" presName="tx1" presStyleLbl="revTx" presStyleIdx="2" presStyleCnt="5"/>
      <dgm:spPr/>
    </dgm:pt>
    <dgm:pt modelId="{71794F88-D56E-4CA1-B65F-F40EB3798735}" type="pres">
      <dgm:prSet presAssocID="{2357DDAE-5144-4421-B873-C379A21CA005}" presName="vert1" presStyleCnt="0"/>
      <dgm:spPr/>
    </dgm:pt>
    <dgm:pt modelId="{10DE7C36-FA69-4989-AB85-1E5386C3796A}" type="pres">
      <dgm:prSet presAssocID="{A1AF32F7-DCC8-4CE2-9B81-FFB41D57DBE2}" presName="thickLine" presStyleLbl="alignNode1" presStyleIdx="3" presStyleCnt="5"/>
      <dgm:spPr/>
    </dgm:pt>
    <dgm:pt modelId="{DDB34C63-A4BE-4E34-A8BA-79E10C0FFFEC}" type="pres">
      <dgm:prSet presAssocID="{A1AF32F7-DCC8-4CE2-9B81-FFB41D57DBE2}" presName="horz1" presStyleCnt="0"/>
      <dgm:spPr/>
    </dgm:pt>
    <dgm:pt modelId="{5B453802-EF68-4490-BF8A-7CFC8896CFE6}" type="pres">
      <dgm:prSet presAssocID="{A1AF32F7-DCC8-4CE2-9B81-FFB41D57DBE2}" presName="tx1" presStyleLbl="revTx" presStyleIdx="3" presStyleCnt="5"/>
      <dgm:spPr/>
    </dgm:pt>
    <dgm:pt modelId="{D99FF5D0-D5DB-4B0C-8E77-AAFD3BD7AC99}" type="pres">
      <dgm:prSet presAssocID="{A1AF32F7-DCC8-4CE2-9B81-FFB41D57DBE2}" presName="vert1" presStyleCnt="0"/>
      <dgm:spPr/>
    </dgm:pt>
    <dgm:pt modelId="{F5156854-94B8-4718-8C62-57AB6E4A658C}" type="pres">
      <dgm:prSet presAssocID="{F42EBBB7-DF66-4F23-B9CC-B6AB5B58F368}" presName="thickLine" presStyleLbl="alignNode1" presStyleIdx="4" presStyleCnt="5"/>
      <dgm:spPr/>
    </dgm:pt>
    <dgm:pt modelId="{ADBCA848-E4F1-4143-BEC4-444C0A9BE654}" type="pres">
      <dgm:prSet presAssocID="{F42EBBB7-DF66-4F23-B9CC-B6AB5B58F368}" presName="horz1" presStyleCnt="0"/>
      <dgm:spPr/>
    </dgm:pt>
    <dgm:pt modelId="{C9D26B02-7FC7-478E-9E4D-25B57AA9E0FE}" type="pres">
      <dgm:prSet presAssocID="{F42EBBB7-DF66-4F23-B9CC-B6AB5B58F368}" presName="tx1" presStyleLbl="revTx" presStyleIdx="4" presStyleCnt="5"/>
      <dgm:spPr/>
    </dgm:pt>
    <dgm:pt modelId="{5DB5F31C-B8EA-4859-A395-380E73339D19}" type="pres">
      <dgm:prSet presAssocID="{F42EBBB7-DF66-4F23-B9CC-B6AB5B58F368}" presName="vert1" presStyleCnt="0"/>
      <dgm:spPr/>
    </dgm:pt>
  </dgm:ptLst>
  <dgm:cxnLst>
    <dgm:cxn modelId="{DE1E3133-19D2-41A6-8B50-74E345949290}" type="presOf" srcId="{F42EBBB7-DF66-4F23-B9CC-B6AB5B58F368}" destId="{C9D26B02-7FC7-478E-9E4D-25B57AA9E0FE}" srcOrd="0" destOrd="0" presId="urn:microsoft.com/office/officeart/2008/layout/LinedList"/>
    <dgm:cxn modelId="{452AAE58-059B-4CD0-B968-5F5849F31EFA}" srcId="{9E650FB7-B2F4-4624-B008-7985874112E6}" destId="{2357DDAE-5144-4421-B873-C379A21CA005}" srcOrd="2" destOrd="0" parTransId="{B40226BF-16ED-4631-B18A-F042576BAAD6}" sibTransId="{80C72BC5-CECB-4ADD-8203-6A113DBA49A6}"/>
    <dgm:cxn modelId="{30770382-A58C-47A1-99D8-39AB2F2EB968}" type="presOf" srcId="{2357DDAE-5144-4421-B873-C379A21CA005}" destId="{AB395A11-5B45-4300-A7C3-5C84A69B2EBF}" srcOrd="0" destOrd="0" presId="urn:microsoft.com/office/officeart/2008/layout/LinedList"/>
    <dgm:cxn modelId="{6F33CBAE-1288-40B1-85D3-24464175621F}" type="presOf" srcId="{9E650FB7-B2F4-4624-B008-7985874112E6}" destId="{34D378F1-AA64-4477-A9D1-AC59A21BE8B7}" srcOrd="0" destOrd="0" presId="urn:microsoft.com/office/officeart/2008/layout/LinedList"/>
    <dgm:cxn modelId="{CE52DCC5-C4F2-43F3-9B75-596410EA6B0C}" type="presOf" srcId="{B6620415-D20F-47FE-B2D6-1795821D0647}" destId="{0995FBD8-76B5-482E-8FFD-4F8268F318CB}" srcOrd="0" destOrd="0" presId="urn:microsoft.com/office/officeart/2008/layout/LinedList"/>
    <dgm:cxn modelId="{BDAC99C9-CFE6-4F2A-954E-C32FF100A9E8}" srcId="{9E650FB7-B2F4-4624-B008-7985874112E6}" destId="{A1AF32F7-DCC8-4CE2-9B81-FFB41D57DBE2}" srcOrd="3" destOrd="0" parTransId="{3C932191-9CBE-4015-8584-C413D6EBE0B9}" sibTransId="{98D25C52-DE03-49DD-8A8F-08575C77D52A}"/>
    <dgm:cxn modelId="{38974ACE-FFDE-40CC-819B-050936C57385}" srcId="{9E650FB7-B2F4-4624-B008-7985874112E6}" destId="{F42EBBB7-DF66-4F23-B9CC-B6AB5B58F368}" srcOrd="4" destOrd="0" parTransId="{9D2E75A7-2049-4923-AD6D-AF62B939E0BC}" sibTransId="{22B4C6EF-5549-4696-9B17-F85EC0B30ABA}"/>
    <dgm:cxn modelId="{0715D9D0-1CE3-484F-89DF-885397EE7BAA}" srcId="{9E650FB7-B2F4-4624-B008-7985874112E6}" destId="{6F50EB52-6036-4080-90AB-BA56707103BD}" srcOrd="1" destOrd="0" parTransId="{FCB2A030-F3F5-4A4F-9602-A12AC2B596CC}" sibTransId="{80D5F3B7-389E-47CA-A47C-45D62CEC1837}"/>
    <dgm:cxn modelId="{852B8AD3-8555-42F7-910F-55869C83AF85}" srcId="{9E650FB7-B2F4-4624-B008-7985874112E6}" destId="{B6620415-D20F-47FE-B2D6-1795821D0647}" srcOrd="0" destOrd="0" parTransId="{A33E9AB3-7B7E-4489-B2C2-A6D5E9728AC7}" sibTransId="{018CC633-1A80-4057-B930-F73B698EFDCB}"/>
    <dgm:cxn modelId="{CCB761E5-B24B-4A68-B55E-D3D9B5E3908D}" type="presOf" srcId="{6F50EB52-6036-4080-90AB-BA56707103BD}" destId="{AA9896C4-FE30-4446-84DD-4363772EB466}" srcOrd="0" destOrd="0" presId="urn:microsoft.com/office/officeart/2008/layout/LinedList"/>
    <dgm:cxn modelId="{A37CA4E9-3FF4-48B9-BF89-F7672EFA2924}" type="presOf" srcId="{A1AF32F7-DCC8-4CE2-9B81-FFB41D57DBE2}" destId="{5B453802-EF68-4490-BF8A-7CFC8896CFE6}" srcOrd="0" destOrd="0" presId="urn:microsoft.com/office/officeart/2008/layout/LinedList"/>
    <dgm:cxn modelId="{2E9C4557-F681-4796-A5FA-D24FEC0BCE55}" type="presParOf" srcId="{34D378F1-AA64-4477-A9D1-AC59A21BE8B7}" destId="{3ECE53A9-A309-4688-8A09-E687ABF8DC29}" srcOrd="0" destOrd="0" presId="urn:microsoft.com/office/officeart/2008/layout/LinedList"/>
    <dgm:cxn modelId="{7F0A0612-6C99-469D-807A-2F12A4AE5D6F}" type="presParOf" srcId="{34D378F1-AA64-4477-A9D1-AC59A21BE8B7}" destId="{43FB76AE-0BCD-4844-BDC4-18DDDBBCE7B0}" srcOrd="1" destOrd="0" presId="urn:microsoft.com/office/officeart/2008/layout/LinedList"/>
    <dgm:cxn modelId="{ECD0891E-E2B3-481E-9C90-871371AA49CD}" type="presParOf" srcId="{43FB76AE-0BCD-4844-BDC4-18DDDBBCE7B0}" destId="{0995FBD8-76B5-482E-8FFD-4F8268F318CB}" srcOrd="0" destOrd="0" presId="urn:microsoft.com/office/officeart/2008/layout/LinedList"/>
    <dgm:cxn modelId="{77F0B17A-367A-44E7-B9A6-F63B98E73BD5}" type="presParOf" srcId="{43FB76AE-0BCD-4844-BDC4-18DDDBBCE7B0}" destId="{A2EC4FEF-A8C8-4D2C-B6F7-83CAAFA37480}" srcOrd="1" destOrd="0" presId="urn:microsoft.com/office/officeart/2008/layout/LinedList"/>
    <dgm:cxn modelId="{396E0C44-1B38-492C-B49E-B455FAB05A3B}" type="presParOf" srcId="{34D378F1-AA64-4477-A9D1-AC59A21BE8B7}" destId="{565EC386-C50D-4ADA-9918-E2370C81C187}" srcOrd="2" destOrd="0" presId="urn:microsoft.com/office/officeart/2008/layout/LinedList"/>
    <dgm:cxn modelId="{B65A58D1-5167-4676-8769-54F68CD720C0}" type="presParOf" srcId="{34D378F1-AA64-4477-A9D1-AC59A21BE8B7}" destId="{5EBEC591-3C02-476C-B153-4E6247F551E4}" srcOrd="3" destOrd="0" presId="urn:microsoft.com/office/officeart/2008/layout/LinedList"/>
    <dgm:cxn modelId="{0B0C0368-811D-441A-AC8F-7AE54FB6E57A}" type="presParOf" srcId="{5EBEC591-3C02-476C-B153-4E6247F551E4}" destId="{AA9896C4-FE30-4446-84DD-4363772EB466}" srcOrd="0" destOrd="0" presId="urn:microsoft.com/office/officeart/2008/layout/LinedList"/>
    <dgm:cxn modelId="{BB04DB9C-77C9-46CE-8F94-C65231E4EC93}" type="presParOf" srcId="{5EBEC591-3C02-476C-B153-4E6247F551E4}" destId="{D6AD159E-1DC3-4F5F-893C-185E2AE42A5A}" srcOrd="1" destOrd="0" presId="urn:microsoft.com/office/officeart/2008/layout/LinedList"/>
    <dgm:cxn modelId="{FD28E5B7-791A-4865-9AF5-B7D44793F140}" type="presParOf" srcId="{34D378F1-AA64-4477-A9D1-AC59A21BE8B7}" destId="{B3CD5EEC-D300-4636-BAD6-BBE30DB573EB}" srcOrd="4" destOrd="0" presId="urn:microsoft.com/office/officeart/2008/layout/LinedList"/>
    <dgm:cxn modelId="{A0222CC5-9081-45FE-8DF5-FF165A947968}" type="presParOf" srcId="{34D378F1-AA64-4477-A9D1-AC59A21BE8B7}" destId="{C3A41307-A307-4B00-AF34-33BFA586483C}" srcOrd="5" destOrd="0" presId="urn:microsoft.com/office/officeart/2008/layout/LinedList"/>
    <dgm:cxn modelId="{2378F366-D1DC-4348-A8FB-888E28EBBDC7}" type="presParOf" srcId="{C3A41307-A307-4B00-AF34-33BFA586483C}" destId="{AB395A11-5B45-4300-A7C3-5C84A69B2EBF}" srcOrd="0" destOrd="0" presId="urn:microsoft.com/office/officeart/2008/layout/LinedList"/>
    <dgm:cxn modelId="{9156890D-8CCB-4033-93E5-EEE16B8BC83D}" type="presParOf" srcId="{C3A41307-A307-4B00-AF34-33BFA586483C}" destId="{71794F88-D56E-4CA1-B65F-F40EB3798735}" srcOrd="1" destOrd="0" presId="urn:microsoft.com/office/officeart/2008/layout/LinedList"/>
    <dgm:cxn modelId="{D1A49B93-D164-427B-8845-04E96310A431}" type="presParOf" srcId="{34D378F1-AA64-4477-A9D1-AC59A21BE8B7}" destId="{10DE7C36-FA69-4989-AB85-1E5386C3796A}" srcOrd="6" destOrd="0" presId="urn:microsoft.com/office/officeart/2008/layout/LinedList"/>
    <dgm:cxn modelId="{6FFB63B9-8AB5-47AF-BFFF-C6FF0D0A442E}" type="presParOf" srcId="{34D378F1-AA64-4477-A9D1-AC59A21BE8B7}" destId="{DDB34C63-A4BE-4E34-A8BA-79E10C0FFFEC}" srcOrd="7" destOrd="0" presId="urn:microsoft.com/office/officeart/2008/layout/LinedList"/>
    <dgm:cxn modelId="{3A8736C3-173B-40F6-8A38-6B6742D26E7E}" type="presParOf" srcId="{DDB34C63-A4BE-4E34-A8BA-79E10C0FFFEC}" destId="{5B453802-EF68-4490-BF8A-7CFC8896CFE6}" srcOrd="0" destOrd="0" presId="urn:microsoft.com/office/officeart/2008/layout/LinedList"/>
    <dgm:cxn modelId="{AB3B288F-C461-4B77-A5F1-10CC6492961A}" type="presParOf" srcId="{DDB34C63-A4BE-4E34-A8BA-79E10C0FFFEC}" destId="{D99FF5D0-D5DB-4B0C-8E77-AAFD3BD7AC99}" srcOrd="1" destOrd="0" presId="urn:microsoft.com/office/officeart/2008/layout/LinedList"/>
    <dgm:cxn modelId="{6B9C1853-3782-4B73-B2BD-2AC62597C49F}" type="presParOf" srcId="{34D378F1-AA64-4477-A9D1-AC59A21BE8B7}" destId="{F5156854-94B8-4718-8C62-57AB6E4A658C}" srcOrd="8" destOrd="0" presId="urn:microsoft.com/office/officeart/2008/layout/LinedList"/>
    <dgm:cxn modelId="{A2AAA690-F21B-4BE0-B64D-2F86A96CBC63}" type="presParOf" srcId="{34D378F1-AA64-4477-A9D1-AC59A21BE8B7}" destId="{ADBCA848-E4F1-4143-BEC4-444C0A9BE654}" srcOrd="9" destOrd="0" presId="urn:microsoft.com/office/officeart/2008/layout/LinedList"/>
    <dgm:cxn modelId="{42D709E0-6B77-43B7-92A7-CD38993D50FD}" type="presParOf" srcId="{ADBCA848-E4F1-4143-BEC4-444C0A9BE654}" destId="{C9D26B02-7FC7-478E-9E4D-25B57AA9E0FE}" srcOrd="0" destOrd="0" presId="urn:microsoft.com/office/officeart/2008/layout/LinedList"/>
    <dgm:cxn modelId="{30AE4E44-BCF4-4CD5-B039-42542AA8FF7F}" type="presParOf" srcId="{ADBCA848-E4F1-4143-BEC4-444C0A9BE654}" destId="{5DB5F31C-B8EA-4859-A395-380E73339D1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40E13E8-229C-431B-BD87-9470807CB70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A867C8-9D5D-432A-B983-9627EEF0A781}">
      <dgm:prSet/>
      <dgm:spPr/>
      <dgm:t>
        <a:bodyPr/>
        <a:lstStyle/>
        <a:p>
          <a:r>
            <a:rPr lang="pt-BR" dirty="0"/>
            <a:t>Combina a especificação em linguagem natural com evidências do grafo.</a:t>
          </a:r>
          <a:endParaRPr lang="en-US" dirty="0"/>
        </a:p>
      </dgm:t>
    </dgm:pt>
    <dgm:pt modelId="{5A04100F-B1A6-4639-87CE-F2E7E04CC7D3}" type="parTrans" cxnId="{D4732C22-F97D-4BB4-9E69-C78535022652}">
      <dgm:prSet/>
      <dgm:spPr/>
      <dgm:t>
        <a:bodyPr/>
        <a:lstStyle/>
        <a:p>
          <a:endParaRPr lang="en-US"/>
        </a:p>
      </dgm:t>
    </dgm:pt>
    <dgm:pt modelId="{FEDDB69D-5B07-4DAC-AE27-58276FD04B79}" type="sibTrans" cxnId="{D4732C22-F97D-4BB4-9E69-C78535022652}">
      <dgm:prSet/>
      <dgm:spPr/>
      <dgm:t>
        <a:bodyPr/>
        <a:lstStyle/>
        <a:p>
          <a:endParaRPr lang="en-US"/>
        </a:p>
      </dgm:t>
    </dgm:pt>
    <dgm:pt modelId="{F964B531-42E2-47BB-A1A1-F384A5E21C45}">
      <dgm:prSet/>
      <dgm:spPr/>
      <dgm:t>
        <a:bodyPr/>
        <a:lstStyle/>
        <a:p>
          <a:r>
            <a:rPr lang="pt-BR" dirty="0"/>
            <a:t>Apresenta páginas, transições e caminhos candidatos relevantes.</a:t>
          </a:r>
          <a:endParaRPr lang="en-US" dirty="0"/>
        </a:p>
      </dgm:t>
    </dgm:pt>
    <dgm:pt modelId="{9A0B24D9-DD24-42A2-8CD8-435C5CD46904}" type="parTrans" cxnId="{37327DBB-20E6-4C02-AA6F-3A8B488EACA8}">
      <dgm:prSet/>
      <dgm:spPr/>
      <dgm:t>
        <a:bodyPr/>
        <a:lstStyle/>
        <a:p>
          <a:endParaRPr lang="en-US"/>
        </a:p>
      </dgm:t>
    </dgm:pt>
    <dgm:pt modelId="{22645AAF-6AB8-4B36-84EF-559496A5D86C}" type="sibTrans" cxnId="{37327DBB-20E6-4C02-AA6F-3A8B488EACA8}">
      <dgm:prSet/>
      <dgm:spPr/>
      <dgm:t>
        <a:bodyPr/>
        <a:lstStyle/>
        <a:p>
          <a:endParaRPr lang="en-US"/>
        </a:p>
      </dgm:t>
    </dgm:pt>
    <dgm:pt modelId="{9412A064-56BB-4260-B697-E6721934B158}">
      <dgm:prSet/>
      <dgm:spPr/>
      <dgm:t>
        <a:bodyPr/>
        <a:lstStyle/>
        <a:p>
          <a:r>
            <a:rPr lang="pt-BR" dirty="0"/>
            <a:t>Recomenda seletores com menor risco de fragilidade.</a:t>
          </a:r>
          <a:endParaRPr lang="en-US" dirty="0"/>
        </a:p>
      </dgm:t>
    </dgm:pt>
    <dgm:pt modelId="{F7480CF4-1994-40DB-8A71-6FBBD7F230F7}" type="parTrans" cxnId="{24E87F4B-CCC5-4F4B-B9AB-8555C3397E3E}">
      <dgm:prSet/>
      <dgm:spPr/>
      <dgm:t>
        <a:bodyPr/>
        <a:lstStyle/>
        <a:p>
          <a:endParaRPr lang="en-US"/>
        </a:p>
      </dgm:t>
    </dgm:pt>
    <dgm:pt modelId="{50AEB7C4-BD6F-4661-9006-4210993AA66C}" type="sibTrans" cxnId="{24E87F4B-CCC5-4F4B-B9AB-8555C3397E3E}">
      <dgm:prSet/>
      <dgm:spPr/>
      <dgm:t>
        <a:bodyPr/>
        <a:lstStyle/>
        <a:p>
          <a:endParaRPr lang="en-US"/>
        </a:p>
      </dgm:t>
    </dgm:pt>
    <dgm:pt modelId="{ECAFBB54-0973-4D8F-A182-43F4EB3EC5C5}">
      <dgm:prSet/>
      <dgm:spPr/>
      <dgm:t>
        <a:bodyPr/>
        <a:lstStyle/>
        <a:p>
          <a:r>
            <a:rPr lang="pt-BR"/>
            <a:t>Inclui avisos de qualidade e cobertura da especificação.</a:t>
          </a:r>
          <a:endParaRPr lang="en-US"/>
        </a:p>
      </dgm:t>
    </dgm:pt>
    <dgm:pt modelId="{4197162E-F95B-44EB-A1D7-820FF4B3E3BB}" type="parTrans" cxnId="{15A82B1F-BE4F-4697-9B69-545A9A6F6815}">
      <dgm:prSet/>
      <dgm:spPr/>
      <dgm:t>
        <a:bodyPr/>
        <a:lstStyle/>
        <a:p>
          <a:endParaRPr lang="en-US"/>
        </a:p>
      </dgm:t>
    </dgm:pt>
    <dgm:pt modelId="{46B1B943-E89B-460B-9A96-25E479282DBF}" type="sibTrans" cxnId="{15A82B1F-BE4F-4697-9B69-545A9A6F6815}">
      <dgm:prSet/>
      <dgm:spPr/>
      <dgm:t>
        <a:bodyPr/>
        <a:lstStyle/>
        <a:p>
          <a:endParaRPr lang="en-US"/>
        </a:p>
      </dgm:t>
    </dgm:pt>
    <dgm:pt modelId="{B650A955-9454-447F-9C2F-3C739BC65C02}">
      <dgm:prSet/>
      <dgm:spPr/>
      <dgm:t>
        <a:bodyPr/>
        <a:lstStyle/>
        <a:p>
          <a:r>
            <a:rPr lang="pt-BR"/>
            <a:t>Instrui a LLM a não inventar rotas, textos ou seletores quando houver evidência no grafo.</a:t>
          </a:r>
          <a:endParaRPr lang="en-US"/>
        </a:p>
      </dgm:t>
    </dgm:pt>
    <dgm:pt modelId="{9BC3EBEA-5E58-4F6E-A184-D4B78676D038}" type="parTrans" cxnId="{4B427AB6-3179-4F76-B2EC-010E21CBAA50}">
      <dgm:prSet/>
      <dgm:spPr/>
      <dgm:t>
        <a:bodyPr/>
        <a:lstStyle/>
        <a:p>
          <a:endParaRPr lang="en-US"/>
        </a:p>
      </dgm:t>
    </dgm:pt>
    <dgm:pt modelId="{054BC5B8-2E72-45D9-B562-62493EF1153D}" type="sibTrans" cxnId="{4B427AB6-3179-4F76-B2EC-010E21CBAA50}">
      <dgm:prSet/>
      <dgm:spPr/>
      <dgm:t>
        <a:bodyPr/>
        <a:lstStyle/>
        <a:p>
          <a:endParaRPr lang="en-US"/>
        </a:p>
      </dgm:t>
    </dgm:pt>
    <dgm:pt modelId="{49FADB05-6E4A-4829-9743-1DF53267BFD1}" type="pres">
      <dgm:prSet presAssocID="{B40E13E8-229C-431B-BD87-9470807CB70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9E4DA36-AC1D-4684-BE1A-1761D53D75F8}" type="pres">
      <dgm:prSet presAssocID="{B8A867C8-9D5D-432A-B983-9627EEF0A781}" presName="hierRoot1" presStyleCnt="0"/>
      <dgm:spPr/>
    </dgm:pt>
    <dgm:pt modelId="{68177C69-C6BA-4776-82F4-CE702F0DF905}" type="pres">
      <dgm:prSet presAssocID="{B8A867C8-9D5D-432A-B983-9627EEF0A781}" presName="composite" presStyleCnt="0"/>
      <dgm:spPr/>
    </dgm:pt>
    <dgm:pt modelId="{3D53A321-E62E-4176-897B-A92D96F2A5C5}" type="pres">
      <dgm:prSet presAssocID="{B8A867C8-9D5D-432A-B983-9627EEF0A781}" presName="background" presStyleLbl="node0" presStyleIdx="0" presStyleCnt="5"/>
      <dgm:spPr/>
    </dgm:pt>
    <dgm:pt modelId="{5BCAB136-6373-4911-B250-510524778E37}" type="pres">
      <dgm:prSet presAssocID="{B8A867C8-9D5D-432A-B983-9627EEF0A781}" presName="text" presStyleLbl="fgAcc0" presStyleIdx="0" presStyleCnt="5">
        <dgm:presLayoutVars>
          <dgm:chPref val="3"/>
        </dgm:presLayoutVars>
      </dgm:prSet>
      <dgm:spPr/>
    </dgm:pt>
    <dgm:pt modelId="{A76023BD-2F36-4823-9745-5CE1F10367D8}" type="pres">
      <dgm:prSet presAssocID="{B8A867C8-9D5D-432A-B983-9627EEF0A781}" presName="hierChild2" presStyleCnt="0"/>
      <dgm:spPr/>
    </dgm:pt>
    <dgm:pt modelId="{8A6C1B78-116E-4418-B1F9-B15C93363253}" type="pres">
      <dgm:prSet presAssocID="{F964B531-42E2-47BB-A1A1-F384A5E21C45}" presName="hierRoot1" presStyleCnt="0"/>
      <dgm:spPr/>
    </dgm:pt>
    <dgm:pt modelId="{FBDE45BB-2208-4EF9-B914-7F128A4B928D}" type="pres">
      <dgm:prSet presAssocID="{F964B531-42E2-47BB-A1A1-F384A5E21C45}" presName="composite" presStyleCnt="0"/>
      <dgm:spPr/>
    </dgm:pt>
    <dgm:pt modelId="{AEC86568-4EB8-404B-A265-719BE1EFA7DF}" type="pres">
      <dgm:prSet presAssocID="{F964B531-42E2-47BB-A1A1-F384A5E21C45}" presName="background" presStyleLbl="node0" presStyleIdx="1" presStyleCnt="5"/>
      <dgm:spPr/>
    </dgm:pt>
    <dgm:pt modelId="{2D7CB3C8-8FCB-402B-A42E-09B2C06FF2F6}" type="pres">
      <dgm:prSet presAssocID="{F964B531-42E2-47BB-A1A1-F384A5E21C45}" presName="text" presStyleLbl="fgAcc0" presStyleIdx="1" presStyleCnt="5">
        <dgm:presLayoutVars>
          <dgm:chPref val="3"/>
        </dgm:presLayoutVars>
      </dgm:prSet>
      <dgm:spPr/>
    </dgm:pt>
    <dgm:pt modelId="{AE9863DD-7648-426D-8A5A-709F8117743D}" type="pres">
      <dgm:prSet presAssocID="{F964B531-42E2-47BB-A1A1-F384A5E21C45}" presName="hierChild2" presStyleCnt="0"/>
      <dgm:spPr/>
    </dgm:pt>
    <dgm:pt modelId="{506115BA-99DC-408A-9519-B8F943B99E0A}" type="pres">
      <dgm:prSet presAssocID="{9412A064-56BB-4260-B697-E6721934B158}" presName="hierRoot1" presStyleCnt="0"/>
      <dgm:spPr/>
    </dgm:pt>
    <dgm:pt modelId="{1C3441A7-3B9D-41F8-B270-855A53CDDB3F}" type="pres">
      <dgm:prSet presAssocID="{9412A064-56BB-4260-B697-E6721934B158}" presName="composite" presStyleCnt="0"/>
      <dgm:spPr/>
    </dgm:pt>
    <dgm:pt modelId="{19696CD3-390D-4A3A-8A65-44C01429BF67}" type="pres">
      <dgm:prSet presAssocID="{9412A064-56BB-4260-B697-E6721934B158}" presName="background" presStyleLbl="node0" presStyleIdx="2" presStyleCnt="5"/>
      <dgm:spPr/>
    </dgm:pt>
    <dgm:pt modelId="{F4AA2753-E405-4AF1-A90C-09297FB6493B}" type="pres">
      <dgm:prSet presAssocID="{9412A064-56BB-4260-B697-E6721934B158}" presName="text" presStyleLbl="fgAcc0" presStyleIdx="2" presStyleCnt="5">
        <dgm:presLayoutVars>
          <dgm:chPref val="3"/>
        </dgm:presLayoutVars>
      </dgm:prSet>
      <dgm:spPr/>
    </dgm:pt>
    <dgm:pt modelId="{42AA0128-11A1-496E-AC0B-D9B93EFA9BC6}" type="pres">
      <dgm:prSet presAssocID="{9412A064-56BB-4260-B697-E6721934B158}" presName="hierChild2" presStyleCnt="0"/>
      <dgm:spPr/>
    </dgm:pt>
    <dgm:pt modelId="{62DAC7E5-D94C-4307-9AD8-0D05FEF2325B}" type="pres">
      <dgm:prSet presAssocID="{ECAFBB54-0973-4D8F-A182-43F4EB3EC5C5}" presName="hierRoot1" presStyleCnt="0"/>
      <dgm:spPr/>
    </dgm:pt>
    <dgm:pt modelId="{08B215A6-1406-4849-8C64-E5AE45CB8709}" type="pres">
      <dgm:prSet presAssocID="{ECAFBB54-0973-4D8F-A182-43F4EB3EC5C5}" presName="composite" presStyleCnt="0"/>
      <dgm:spPr/>
    </dgm:pt>
    <dgm:pt modelId="{378E23EF-4392-4C54-9F9C-2E8B674ED8D0}" type="pres">
      <dgm:prSet presAssocID="{ECAFBB54-0973-4D8F-A182-43F4EB3EC5C5}" presName="background" presStyleLbl="node0" presStyleIdx="3" presStyleCnt="5"/>
      <dgm:spPr/>
    </dgm:pt>
    <dgm:pt modelId="{E751A6BF-5E6A-4C8C-ACC9-20BD434EFE35}" type="pres">
      <dgm:prSet presAssocID="{ECAFBB54-0973-4D8F-A182-43F4EB3EC5C5}" presName="text" presStyleLbl="fgAcc0" presStyleIdx="3" presStyleCnt="5">
        <dgm:presLayoutVars>
          <dgm:chPref val="3"/>
        </dgm:presLayoutVars>
      </dgm:prSet>
      <dgm:spPr/>
    </dgm:pt>
    <dgm:pt modelId="{6CA7D247-7C02-4B31-97FF-11C2E3F6B873}" type="pres">
      <dgm:prSet presAssocID="{ECAFBB54-0973-4D8F-A182-43F4EB3EC5C5}" presName="hierChild2" presStyleCnt="0"/>
      <dgm:spPr/>
    </dgm:pt>
    <dgm:pt modelId="{603677CB-30C5-4B9A-A8E1-A89061DE49B5}" type="pres">
      <dgm:prSet presAssocID="{B650A955-9454-447F-9C2F-3C739BC65C02}" presName="hierRoot1" presStyleCnt="0"/>
      <dgm:spPr/>
    </dgm:pt>
    <dgm:pt modelId="{6D924F17-F1B9-425A-BB9E-90E02704DD97}" type="pres">
      <dgm:prSet presAssocID="{B650A955-9454-447F-9C2F-3C739BC65C02}" presName="composite" presStyleCnt="0"/>
      <dgm:spPr/>
    </dgm:pt>
    <dgm:pt modelId="{1E960CAF-6AF1-4EAE-A4A6-BE66FDBE8B3A}" type="pres">
      <dgm:prSet presAssocID="{B650A955-9454-447F-9C2F-3C739BC65C02}" presName="background" presStyleLbl="node0" presStyleIdx="4" presStyleCnt="5"/>
      <dgm:spPr/>
    </dgm:pt>
    <dgm:pt modelId="{2B4F4ACC-D5F1-4877-8B29-1D1CD3803F01}" type="pres">
      <dgm:prSet presAssocID="{B650A955-9454-447F-9C2F-3C739BC65C02}" presName="text" presStyleLbl="fgAcc0" presStyleIdx="4" presStyleCnt="5">
        <dgm:presLayoutVars>
          <dgm:chPref val="3"/>
        </dgm:presLayoutVars>
      </dgm:prSet>
      <dgm:spPr/>
    </dgm:pt>
    <dgm:pt modelId="{0E6F2B16-DAB5-441C-8A34-FD0C90AA2152}" type="pres">
      <dgm:prSet presAssocID="{B650A955-9454-447F-9C2F-3C739BC65C02}" presName="hierChild2" presStyleCnt="0"/>
      <dgm:spPr/>
    </dgm:pt>
  </dgm:ptLst>
  <dgm:cxnLst>
    <dgm:cxn modelId="{E806AB12-818C-435E-B219-E9A7194FC68C}" type="presOf" srcId="{B40E13E8-229C-431B-BD87-9470807CB704}" destId="{49FADB05-6E4A-4829-9743-1DF53267BFD1}" srcOrd="0" destOrd="0" presId="urn:microsoft.com/office/officeart/2005/8/layout/hierarchy1"/>
    <dgm:cxn modelId="{15A82B1F-BE4F-4697-9B69-545A9A6F6815}" srcId="{B40E13E8-229C-431B-BD87-9470807CB704}" destId="{ECAFBB54-0973-4D8F-A182-43F4EB3EC5C5}" srcOrd="3" destOrd="0" parTransId="{4197162E-F95B-44EB-A1D7-820FF4B3E3BB}" sibTransId="{46B1B943-E89B-460B-9A96-25E479282DBF}"/>
    <dgm:cxn modelId="{D4732C22-F97D-4BB4-9E69-C78535022652}" srcId="{B40E13E8-229C-431B-BD87-9470807CB704}" destId="{B8A867C8-9D5D-432A-B983-9627EEF0A781}" srcOrd="0" destOrd="0" parTransId="{5A04100F-B1A6-4639-87CE-F2E7E04CC7D3}" sibTransId="{FEDDB69D-5B07-4DAC-AE27-58276FD04B79}"/>
    <dgm:cxn modelId="{600FEA2C-8693-4212-85D1-743D0375A4C2}" type="presOf" srcId="{B650A955-9454-447F-9C2F-3C739BC65C02}" destId="{2B4F4ACC-D5F1-4877-8B29-1D1CD3803F01}" srcOrd="0" destOrd="0" presId="urn:microsoft.com/office/officeart/2005/8/layout/hierarchy1"/>
    <dgm:cxn modelId="{24E87F4B-CCC5-4F4B-B9AB-8555C3397E3E}" srcId="{B40E13E8-229C-431B-BD87-9470807CB704}" destId="{9412A064-56BB-4260-B697-E6721934B158}" srcOrd="2" destOrd="0" parTransId="{F7480CF4-1994-40DB-8A71-6FBBD7F230F7}" sibTransId="{50AEB7C4-BD6F-4661-9006-4210993AA66C}"/>
    <dgm:cxn modelId="{D5D10559-7C9D-471C-8FB1-EFF7BCD59D97}" type="presOf" srcId="{ECAFBB54-0973-4D8F-A182-43F4EB3EC5C5}" destId="{E751A6BF-5E6A-4C8C-ACC9-20BD434EFE35}" srcOrd="0" destOrd="0" presId="urn:microsoft.com/office/officeart/2005/8/layout/hierarchy1"/>
    <dgm:cxn modelId="{42936493-E9C5-4E4B-9A15-FF4EAE721FF2}" type="presOf" srcId="{B8A867C8-9D5D-432A-B983-9627EEF0A781}" destId="{5BCAB136-6373-4911-B250-510524778E37}" srcOrd="0" destOrd="0" presId="urn:microsoft.com/office/officeart/2005/8/layout/hierarchy1"/>
    <dgm:cxn modelId="{4B427AB6-3179-4F76-B2EC-010E21CBAA50}" srcId="{B40E13E8-229C-431B-BD87-9470807CB704}" destId="{B650A955-9454-447F-9C2F-3C739BC65C02}" srcOrd="4" destOrd="0" parTransId="{9BC3EBEA-5E58-4F6E-A184-D4B78676D038}" sibTransId="{054BC5B8-2E72-45D9-B562-62493EF1153D}"/>
    <dgm:cxn modelId="{37327DBB-20E6-4C02-AA6F-3A8B488EACA8}" srcId="{B40E13E8-229C-431B-BD87-9470807CB704}" destId="{F964B531-42E2-47BB-A1A1-F384A5E21C45}" srcOrd="1" destOrd="0" parTransId="{9A0B24D9-DD24-42A2-8CD8-435C5CD46904}" sibTransId="{22645AAF-6AB8-4B36-84EF-559496A5D86C}"/>
    <dgm:cxn modelId="{267893D7-85ED-4AF1-99D1-28986A7C3D14}" type="presOf" srcId="{F964B531-42E2-47BB-A1A1-F384A5E21C45}" destId="{2D7CB3C8-8FCB-402B-A42E-09B2C06FF2F6}" srcOrd="0" destOrd="0" presId="urn:microsoft.com/office/officeart/2005/8/layout/hierarchy1"/>
    <dgm:cxn modelId="{85A79EE0-8AF7-4245-BAB4-6CD96AD5B3D6}" type="presOf" srcId="{9412A064-56BB-4260-B697-E6721934B158}" destId="{F4AA2753-E405-4AF1-A90C-09297FB6493B}" srcOrd="0" destOrd="0" presId="urn:microsoft.com/office/officeart/2005/8/layout/hierarchy1"/>
    <dgm:cxn modelId="{5B0872D6-C759-4AB4-968A-F17F08271DF9}" type="presParOf" srcId="{49FADB05-6E4A-4829-9743-1DF53267BFD1}" destId="{29E4DA36-AC1D-4684-BE1A-1761D53D75F8}" srcOrd="0" destOrd="0" presId="urn:microsoft.com/office/officeart/2005/8/layout/hierarchy1"/>
    <dgm:cxn modelId="{4504F206-E8FC-4D1F-A849-DEDEF2F6EEEF}" type="presParOf" srcId="{29E4DA36-AC1D-4684-BE1A-1761D53D75F8}" destId="{68177C69-C6BA-4776-82F4-CE702F0DF905}" srcOrd="0" destOrd="0" presId="urn:microsoft.com/office/officeart/2005/8/layout/hierarchy1"/>
    <dgm:cxn modelId="{1CAB63D7-8DE9-4FF3-BA69-08A02895F588}" type="presParOf" srcId="{68177C69-C6BA-4776-82F4-CE702F0DF905}" destId="{3D53A321-E62E-4176-897B-A92D96F2A5C5}" srcOrd="0" destOrd="0" presId="urn:microsoft.com/office/officeart/2005/8/layout/hierarchy1"/>
    <dgm:cxn modelId="{A129B273-9FC1-468C-A94A-D3650484160E}" type="presParOf" srcId="{68177C69-C6BA-4776-82F4-CE702F0DF905}" destId="{5BCAB136-6373-4911-B250-510524778E37}" srcOrd="1" destOrd="0" presId="urn:microsoft.com/office/officeart/2005/8/layout/hierarchy1"/>
    <dgm:cxn modelId="{C947B08B-E97B-4628-902C-410310A96DD9}" type="presParOf" srcId="{29E4DA36-AC1D-4684-BE1A-1761D53D75F8}" destId="{A76023BD-2F36-4823-9745-5CE1F10367D8}" srcOrd="1" destOrd="0" presId="urn:microsoft.com/office/officeart/2005/8/layout/hierarchy1"/>
    <dgm:cxn modelId="{E245A43B-0D7C-4570-9152-56FF0A15AFF3}" type="presParOf" srcId="{49FADB05-6E4A-4829-9743-1DF53267BFD1}" destId="{8A6C1B78-116E-4418-B1F9-B15C93363253}" srcOrd="1" destOrd="0" presId="urn:microsoft.com/office/officeart/2005/8/layout/hierarchy1"/>
    <dgm:cxn modelId="{74B58D5E-9F1D-48E8-83B1-0E6C411FB4C6}" type="presParOf" srcId="{8A6C1B78-116E-4418-B1F9-B15C93363253}" destId="{FBDE45BB-2208-4EF9-B914-7F128A4B928D}" srcOrd="0" destOrd="0" presId="urn:microsoft.com/office/officeart/2005/8/layout/hierarchy1"/>
    <dgm:cxn modelId="{98E2F4F8-9F0F-4760-B5C4-4B60D5348521}" type="presParOf" srcId="{FBDE45BB-2208-4EF9-B914-7F128A4B928D}" destId="{AEC86568-4EB8-404B-A265-719BE1EFA7DF}" srcOrd="0" destOrd="0" presId="urn:microsoft.com/office/officeart/2005/8/layout/hierarchy1"/>
    <dgm:cxn modelId="{98A38E31-C6D3-4292-9C0B-A3B9E166BEDD}" type="presParOf" srcId="{FBDE45BB-2208-4EF9-B914-7F128A4B928D}" destId="{2D7CB3C8-8FCB-402B-A42E-09B2C06FF2F6}" srcOrd="1" destOrd="0" presId="urn:microsoft.com/office/officeart/2005/8/layout/hierarchy1"/>
    <dgm:cxn modelId="{65832CD3-C7BB-4E84-8776-183DDF169B8F}" type="presParOf" srcId="{8A6C1B78-116E-4418-B1F9-B15C93363253}" destId="{AE9863DD-7648-426D-8A5A-709F8117743D}" srcOrd="1" destOrd="0" presId="urn:microsoft.com/office/officeart/2005/8/layout/hierarchy1"/>
    <dgm:cxn modelId="{34B90987-1EE0-472F-A4BE-FA8EB4E6C277}" type="presParOf" srcId="{49FADB05-6E4A-4829-9743-1DF53267BFD1}" destId="{506115BA-99DC-408A-9519-B8F943B99E0A}" srcOrd="2" destOrd="0" presId="urn:microsoft.com/office/officeart/2005/8/layout/hierarchy1"/>
    <dgm:cxn modelId="{7AE03E50-A9B4-4E1B-A78D-3D910ECC3A2F}" type="presParOf" srcId="{506115BA-99DC-408A-9519-B8F943B99E0A}" destId="{1C3441A7-3B9D-41F8-B270-855A53CDDB3F}" srcOrd="0" destOrd="0" presId="urn:microsoft.com/office/officeart/2005/8/layout/hierarchy1"/>
    <dgm:cxn modelId="{7086AFD7-33C7-4D6A-9025-8D3C383107F2}" type="presParOf" srcId="{1C3441A7-3B9D-41F8-B270-855A53CDDB3F}" destId="{19696CD3-390D-4A3A-8A65-44C01429BF67}" srcOrd="0" destOrd="0" presId="urn:microsoft.com/office/officeart/2005/8/layout/hierarchy1"/>
    <dgm:cxn modelId="{138C16C8-4296-45EA-BDDC-CB17D457EDA3}" type="presParOf" srcId="{1C3441A7-3B9D-41F8-B270-855A53CDDB3F}" destId="{F4AA2753-E405-4AF1-A90C-09297FB6493B}" srcOrd="1" destOrd="0" presId="urn:microsoft.com/office/officeart/2005/8/layout/hierarchy1"/>
    <dgm:cxn modelId="{9EFE53FB-2480-4422-BBAA-5FBB7457E901}" type="presParOf" srcId="{506115BA-99DC-408A-9519-B8F943B99E0A}" destId="{42AA0128-11A1-496E-AC0B-D9B93EFA9BC6}" srcOrd="1" destOrd="0" presId="urn:microsoft.com/office/officeart/2005/8/layout/hierarchy1"/>
    <dgm:cxn modelId="{8ABB67DB-ED7A-45D9-B6DC-FFC8AAF52A72}" type="presParOf" srcId="{49FADB05-6E4A-4829-9743-1DF53267BFD1}" destId="{62DAC7E5-D94C-4307-9AD8-0D05FEF2325B}" srcOrd="3" destOrd="0" presId="urn:microsoft.com/office/officeart/2005/8/layout/hierarchy1"/>
    <dgm:cxn modelId="{4855AFEC-C047-463A-AE40-24FA03A2D1A8}" type="presParOf" srcId="{62DAC7E5-D94C-4307-9AD8-0D05FEF2325B}" destId="{08B215A6-1406-4849-8C64-E5AE45CB8709}" srcOrd="0" destOrd="0" presId="urn:microsoft.com/office/officeart/2005/8/layout/hierarchy1"/>
    <dgm:cxn modelId="{577A1EA6-A700-4D9A-85B3-0558636DE90B}" type="presParOf" srcId="{08B215A6-1406-4849-8C64-E5AE45CB8709}" destId="{378E23EF-4392-4C54-9F9C-2E8B674ED8D0}" srcOrd="0" destOrd="0" presId="urn:microsoft.com/office/officeart/2005/8/layout/hierarchy1"/>
    <dgm:cxn modelId="{EA820148-09FB-4D7C-AD38-D255A9419C08}" type="presParOf" srcId="{08B215A6-1406-4849-8C64-E5AE45CB8709}" destId="{E751A6BF-5E6A-4C8C-ACC9-20BD434EFE35}" srcOrd="1" destOrd="0" presId="urn:microsoft.com/office/officeart/2005/8/layout/hierarchy1"/>
    <dgm:cxn modelId="{B93541FD-62C1-47FC-BBED-B93A4101ADB9}" type="presParOf" srcId="{62DAC7E5-D94C-4307-9AD8-0D05FEF2325B}" destId="{6CA7D247-7C02-4B31-97FF-11C2E3F6B873}" srcOrd="1" destOrd="0" presId="urn:microsoft.com/office/officeart/2005/8/layout/hierarchy1"/>
    <dgm:cxn modelId="{1B47B7D8-9D69-4900-84E6-67C9E4CD9D04}" type="presParOf" srcId="{49FADB05-6E4A-4829-9743-1DF53267BFD1}" destId="{603677CB-30C5-4B9A-A8E1-A89061DE49B5}" srcOrd="4" destOrd="0" presId="urn:microsoft.com/office/officeart/2005/8/layout/hierarchy1"/>
    <dgm:cxn modelId="{F86DCDC4-3258-4F1F-BCA7-40A87ED743E0}" type="presParOf" srcId="{603677CB-30C5-4B9A-A8E1-A89061DE49B5}" destId="{6D924F17-F1B9-425A-BB9E-90E02704DD97}" srcOrd="0" destOrd="0" presId="urn:microsoft.com/office/officeart/2005/8/layout/hierarchy1"/>
    <dgm:cxn modelId="{0407B5D7-7D78-4B8D-A431-65EF0B28AD7B}" type="presParOf" srcId="{6D924F17-F1B9-425A-BB9E-90E02704DD97}" destId="{1E960CAF-6AF1-4EAE-A4A6-BE66FDBE8B3A}" srcOrd="0" destOrd="0" presId="urn:microsoft.com/office/officeart/2005/8/layout/hierarchy1"/>
    <dgm:cxn modelId="{CEB4810E-9A2A-45F7-A598-67C27A1189CE}" type="presParOf" srcId="{6D924F17-F1B9-425A-BB9E-90E02704DD97}" destId="{2B4F4ACC-D5F1-4877-8B29-1D1CD3803F01}" srcOrd="1" destOrd="0" presId="urn:microsoft.com/office/officeart/2005/8/layout/hierarchy1"/>
    <dgm:cxn modelId="{00550C73-9ABF-40E4-ABF9-2DD0E3309669}" type="presParOf" srcId="{603677CB-30C5-4B9A-A8E1-A89061DE49B5}" destId="{0E6F2B16-DAB5-441C-8A34-FD0C90AA215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23DED5-498A-4602-8440-856E8BE4C1D4}">
      <dsp:nvSpPr>
        <dsp:cNvPr id="0" name=""/>
        <dsp:cNvSpPr/>
      </dsp:nvSpPr>
      <dsp:spPr>
        <a:xfrm>
          <a:off x="0" y="0"/>
          <a:ext cx="10698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693F1-FC52-4F27-B567-2C0380D91CC8}">
      <dsp:nvSpPr>
        <dsp:cNvPr id="0" name=""/>
        <dsp:cNvSpPr/>
      </dsp:nvSpPr>
      <dsp:spPr>
        <a:xfrm>
          <a:off x="0" y="0"/>
          <a:ext cx="10698480" cy="1200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/>
            <a:t>Testes E2E validam fluxos completos de uso em aplicações web.</a:t>
          </a:r>
          <a:endParaRPr lang="en-US" sz="3300" kern="1200"/>
        </a:p>
      </dsp:txBody>
      <dsp:txXfrm>
        <a:off x="0" y="0"/>
        <a:ext cx="10698480" cy="1200150"/>
      </dsp:txXfrm>
    </dsp:sp>
    <dsp:sp modelId="{FF2778AF-598B-40F1-BF77-0150A1F8E47E}">
      <dsp:nvSpPr>
        <dsp:cNvPr id="0" name=""/>
        <dsp:cNvSpPr/>
      </dsp:nvSpPr>
      <dsp:spPr>
        <a:xfrm>
          <a:off x="0" y="1200150"/>
          <a:ext cx="10698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52AC2-D34F-40A6-9872-804C1E62D993}">
      <dsp:nvSpPr>
        <dsp:cNvPr id="0" name=""/>
        <dsp:cNvSpPr/>
      </dsp:nvSpPr>
      <dsp:spPr>
        <a:xfrm>
          <a:off x="0" y="1200150"/>
          <a:ext cx="10698480" cy="1200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/>
            <a:t>Eles são importantes, mas caros de escrever, revisar e manter.</a:t>
          </a:r>
          <a:endParaRPr lang="en-US" sz="3300" kern="1200"/>
        </a:p>
      </dsp:txBody>
      <dsp:txXfrm>
        <a:off x="0" y="1200150"/>
        <a:ext cx="10698480" cy="1200150"/>
      </dsp:txXfrm>
    </dsp:sp>
    <dsp:sp modelId="{9A9C76E6-C8BD-4620-94E5-DEF2B8428607}">
      <dsp:nvSpPr>
        <dsp:cNvPr id="0" name=""/>
        <dsp:cNvSpPr/>
      </dsp:nvSpPr>
      <dsp:spPr>
        <a:xfrm>
          <a:off x="0" y="2400300"/>
          <a:ext cx="10698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3643E-B5AD-416D-9962-26C1546DE87D}">
      <dsp:nvSpPr>
        <dsp:cNvPr id="0" name=""/>
        <dsp:cNvSpPr/>
      </dsp:nvSpPr>
      <dsp:spPr>
        <a:xfrm>
          <a:off x="0" y="2400300"/>
          <a:ext cx="10698480" cy="1200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/>
            <a:t>LLMs ajudam na geração de código, mas não conhecem necessariamente a interface real.</a:t>
          </a:r>
          <a:endParaRPr lang="en-US" sz="3300" kern="1200"/>
        </a:p>
      </dsp:txBody>
      <dsp:txXfrm>
        <a:off x="0" y="2400300"/>
        <a:ext cx="10698480" cy="1200150"/>
      </dsp:txXfrm>
    </dsp:sp>
    <dsp:sp modelId="{814E8C30-513A-4C6B-9FB8-14E5E76BA0E6}">
      <dsp:nvSpPr>
        <dsp:cNvPr id="0" name=""/>
        <dsp:cNvSpPr/>
      </dsp:nvSpPr>
      <dsp:spPr>
        <a:xfrm>
          <a:off x="0" y="3600449"/>
          <a:ext cx="10698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4968B-29B9-42C1-B9EB-A8896F4A4FDD}">
      <dsp:nvSpPr>
        <dsp:cNvPr id="0" name=""/>
        <dsp:cNvSpPr/>
      </dsp:nvSpPr>
      <dsp:spPr>
        <a:xfrm>
          <a:off x="0" y="3600449"/>
          <a:ext cx="10698480" cy="1200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 dirty="0"/>
            <a:t>Sem contexto, o teste pode parecer plausível e ainda assim não representar o sistema.</a:t>
          </a:r>
          <a:endParaRPr lang="en-US" sz="3300" kern="1200" dirty="0"/>
        </a:p>
      </dsp:txBody>
      <dsp:txXfrm>
        <a:off x="0" y="3600449"/>
        <a:ext cx="10698480" cy="12001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FEB90C-391B-4D77-A682-59DD5B490CF6}">
      <dsp:nvSpPr>
        <dsp:cNvPr id="0" name=""/>
        <dsp:cNvSpPr/>
      </dsp:nvSpPr>
      <dsp:spPr>
        <a:xfrm>
          <a:off x="1476787" y="3067"/>
          <a:ext cx="3688050" cy="2212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/>
            <a:t>LLMs podem inventar rotas que não existem na aplicação.</a:t>
          </a:r>
          <a:endParaRPr lang="en-US" sz="3300" kern="1200"/>
        </a:p>
      </dsp:txBody>
      <dsp:txXfrm>
        <a:off x="1476787" y="3067"/>
        <a:ext cx="3688050" cy="2212830"/>
      </dsp:txXfrm>
    </dsp:sp>
    <dsp:sp modelId="{30F47147-1339-41D3-BF68-D5911FEC4EED}">
      <dsp:nvSpPr>
        <dsp:cNvPr id="0" name=""/>
        <dsp:cNvSpPr/>
      </dsp:nvSpPr>
      <dsp:spPr>
        <a:xfrm>
          <a:off x="5533642" y="3067"/>
          <a:ext cx="3688050" cy="2212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/>
            <a:t>Podem usar seletores frágeis ou inexistentes.</a:t>
          </a:r>
          <a:endParaRPr lang="en-US" sz="3300" kern="1200"/>
        </a:p>
      </dsp:txBody>
      <dsp:txXfrm>
        <a:off x="5533642" y="3067"/>
        <a:ext cx="3688050" cy="2212830"/>
      </dsp:txXfrm>
    </dsp:sp>
    <dsp:sp modelId="{86AAB46E-C0AE-4D74-BC5D-EC0BA025FD60}">
      <dsp:nvSpPr>
        <dsp:cNvPr id="0" name=""/>
        <dsp:cNvSpPr/>
      </dsp:nvSpPr>
      <dsp:spPr>
        <a:xfrm>
          <a:off x="1476787" y="2584702"/>
          <a:ext cx="3688050" cy="2212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/>
            <a:t>Podem escolher textos e elementos que não aparecem na interface.</a:t>
          </a:r>
          <a:endParaRPr lang="en-US" sz="3300" kern="1200"/>
        </a:p>
      </dsp:txBody>
      <dsp:txXfrm>
        <a:off x="1476787" y="2584702"/>
        <a:ext cx="3688050" cy="2212830"/>
      </dsp:txXfrm>
    </dsp:sp>
    <dsp:sp modelId="{BF8A38E7-45CE-4EAF-A46A-0D94ACD52156}">
      <dsp:nvSpPr>
        <dsp:cNvPr id="0" name=""/>
        <dsp:cNvSpPr/>
      </dsp:nvSpPr>
      <dsp:spPr>
        <a:xfrm>
          <a:off x="5533642" y="2584702"/>
          <a:ext cx="3688050" cy="2212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 dirty="0"/>
            <a:t>Podem gerar fluxos incompatíveis com a navegação real.</a:t>
          </a:r>
          <a:endParaRPr lang="en-US" sz="3300" kern="1200" dirty="0"/>
        </a:p>
      </dsp:txBody>
      <dsp:txXfrm>
        <a:off x="5533642" y="2584702"/>
        <a:ext cx="3688050" cy="22128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933CE-3C3F-41A6-A565-697C723DDF4D}">
      <dsp:nvSpPr>
        <dsp:cNvPr id="0" name=""/>
        <dsp:cNvSpPr/>
      </dsp:nvSpPr>
      <dsp:spPr>
        <a:xfrm>
          <a:off x="1749995" y="1403"/>
          <a:ext cx="6478640" cy="41139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0754A-428E-4FAD-8DF4-102F497A18C0}">
      <dsp:nvSpPr>
        <dsp:cNvPr id="0" name=""/>
        <dsp:cNvSpPr/>
      </dsp:nvSpPr>
      <dsp:spPr>
        <a:xfrm>
          <a:off x="2469844" y="685259"/>
          <a:ext cx="6478640" cy="41139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Como fornecer contexto estruturado, extraído automaticamente da aplicação, para apoiar LLMs na geração de testes E2E mais consistentes à interface real?</a:t>
          </a:r>
          <a:endParaRPr lang="en-US" sz="3600" kern="1200" dirty="0"/>
        </a:p>
      </dsp:txBody>
      <dsp:txXfrm>
        <a:off x="2590337" y="805752"/>
        <a:ext cx="6237654" cy="38729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E53A9-A309-4688-8A09-E687ABF8DC29}">
      <dsp:nvSpPr>
        <dsp:cNvPr id="0" name=""/>
        <dsp:cNvSpPr/>
      </dsp:nvSpPr>
      <dsp:spPr>
        <a:xfrm>
          <a:off x="0" y="586"/>
          <a:ext cx="10698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5FBD8-76B5-482E-8FFD-4F8268F318CB}">
      <dsp:nvSpPr>
        <dsp:cNvPr id="0" name=""/>
        <dsp:cNvSpPr/>
      </dsp:nvSpPr>
      <dsp:spPr>
        <a:xfrm>
          <a:off x="0" y="586"/>
          <a:ext cx="10698480" cy="959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Reduzir alucinações em código de teste gerado por IA.</a:t>
          </a:r>
          <a:endParaRPr lang="en-US" sz="2600" kern="1200"/>
        </a:p>
      </dsp:txBody>
      <dsp:txXfrm>
        <a:off x="0" y="586"/>
        <a:ext cx="10698480" cy="959885"/>
      </dsp:txXfrm>
    </dsp:sp>
    <dsp:sp modelId="{565EC386-C50D-4ADA-9918-E2370C81C187}">
      <dsp:nvSpPr>
        <dsp:cNvPr id="0" name=""/>
        <dsp:cNvSpPr/>
      </dsp:nvSpPr>
      <dsp:spPr>
        <a:xfrm>
          <a:off x="0" y="960471"/>
          <a:ext cx="10698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896C4-FE30-4446-84DD-4363772EB466}">
      <dsp:nvSpPr>
        <dsp:cNvPr id="0" name=""/>
        <dsp:cNvSpPr/>
      </dsp:nvSpPr>
      <dsp:spPr>
        <a:xfrm>
          <a:off x="0" y="960471"/>
          <a:ext cx="10698480" cy="959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Reduzir o esforço inicial para criar testes E2E de regressão.</a:t>
          </a:r>
          <a:endParaRPr lang="en-US" sz="2600" kern="1200" dirty="0"/>
        </a:p>
      </dsp:txBody>
      <dsp:txXfrm>
        <a:off x="0" y="960471"/>
        <a:ext cx="10698480" cy="959885"/>
      </dsp:txXfrm>
    </dsp:sp>
    <dsp:sp modelId="{B3CD5EEC-D300-4636-BAD6-BBE30DB573EB}">
      <dsp:nvSpPr>
        <dsp:cNvPr id="0" name=""/>
        <dsp:cNvSpPr/>
      </dsp:nvSpPr>
      <dsp:spPr>
        <a:xfrm>
          <a:off x="0" y="1920357"/>
          <a:ext cx="10698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95A11-5B45-4300-A7C3-5C84A69B2EBF}">
      <dsp:nvSpPr>
        <dsp:cNvPr id="0" name=""/>
        <dsp:cNvSpPr/>
      </dsp:nvSpPr>
      <dsp:spPr>
        <a:xfrm>
          <a:off x="0" y="1920357"/>
          <a:ext cx="10698480" cy="959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Permitir relacionar cada passo do teste às evidências encontradas na interface.</a:t>
          </a:r>
          <a:endParaRPr lang="en-US" sz="2600" kern="1200" dirty="0"/>
        </a:p>
      </dsp:txBody>
      <dsp:txXfrm>
        <a:off x="0" y="1920357"/>
        <a:ext cx="10698480" cy="959885"/>
      </dsp:txXfrm>
    </dsp:sp>
    <dsp:sp modelId="{10DE7C36-FA69-4989-AB85-1E5386C3796A}">
      <dsp:nvSpPr>
        <dsp:cNvPr id="0" name=""/>
        <dsp:cNvSpPr/>
      </dsp:nvSpPr>
      <dsp:spPr>
        <a:xfrm>
          <a:off x="0" y="2880242"/>
          <a:ext cx="10698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53802-EF68-4490-BF8A-7CFC8896CFE6}">
      <dsp:nvSpPr>
        <dsp:cNvPr id="0" name=""/>
        <dsp:cNvSpPr/>
      </dsp:nvSpPr>
      <dsp:spPr>
        <a:xfrm>
          <a:off x="0" y="2880242"/>
          <a:ext cx="10698480" cy="959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Favorecer seletores mais robustos e legíveis.</a:t>
          </a:r>
          <a:endParaRPr lang="en-US" sz="2600" kern="1200"/>
        </a:p>
      </dsp:txBody>
      <dsp:txXfrm>
        <a:off x="0" y="2880242"/>
        <a:ext cx="10698480" cy="959885"/>
      </dsp:txXfrm>
    </dsp:sp>
    <dsp:sp modelId="{F5156854-94B8-4718-8C62-57AB6E4A658C}">
      <dsp:nvSpPr>
        <dsp:cNvPr id="0" name=""/>
        <dsp:cNvSpPr/>
      </dsp:nvSpPr>
      <dsp:spPr>
        <a:xfrm>
          <a:off x="0" y="3840128"/>
          <a:ext cx="10698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26B02-7FC7-478E-9E4D-25B57AA9E0FE}">
      <dsp:nvSpPr>
        <dsp:cNvPr id="0" name=""/>
        <dsp:cNvSpPr/>
      </dsp:nvSpPr>
      <dsp:spPr>
        <a:xfrm>
          <a:off x="0" y="3840128"/>
          <a:ext cx="10698480" cy="959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Tornar o processo de geração mais revisável e auditável.</a:t>
          </a:r>
          <a:endParaRPr lang="en-US" sz="2600" kern="1200" dirty="0"/>
        </a:p>
      </dsp:txBody>
      <dsp:txXfrm>
        <a:off x="0" y="3840128"/>
        <a:ext cx="10698480" cy="9598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53A321-E62E-4176-897B-A92D96F2A5C5}">
      <dsp:nvSpPr>
        <dsp:cNvPr id="0" name=""/>
        <dsp:cNvSpPr/>
      </dsp:nvSpPr>
      <dsp:spPr>
        <a:xfrm>
          <a:off x="3656" y="1295317"/>
          <a:ext cx="1781861" cy="11314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AB136-6373-4911-B250-510524778E37}">
      <dsp:nvSpPr>
        <dsp:cNvPr id="0" name=""/>
        <dsp:cNvSpPr/>
      </dsp:nvSpPr>
      <dsp:spPr>
        <a:xfrm>
          <a:off x="201641" y="1483403"/>
          <a:ext cx="1781861" cy="11314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Combina a especificação em linguagem natural com evidências do grafo.</a:t>
          </a:r>
          <a:endParaRPr lang="en-US" sz="1300" kern="1200" dirty="0"/>
        </a:p>
      </dsp:txBody>
      <dsp:txXfrm>
        <a:off x="234781" y="1516543"/>
        <a:ext cx="1715581" cy="1065201"/>
      </dsp:txXfrm>
    </dsp:sp>
    <dsp:sp modelId="{AEC86568-4EB8-404B-A265-719BE1EFA7DF}">
      <dsp:nvSpPr>
        <dsp:cNvPr id="0" name=""/>
        <dsp:cNvSpPr/>
      </dsp:nvSpPr>
      <dsp:spPr>
        <a:xfrm>
          <a:off x="2181486" y="1295317"/>
          <a:ext cx="1781861" cy="11314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CB3C8-8FCB-402B-A42E-09B2C06FF2F6}">
      <dsp:nvSpPr>
        <dsp:cNvPr id="0" name=""/>
        <dsp:cNvSpPr/>
      </dsp:nvSpPr>
      <dsp:spPr>
        <a:xfrm>
          <a:off x="2379471" y="1483403"/>
          <a:ext cx="1781861" cy="11314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Apresenta páginas, transições e caminhos candidatos relevantes.</a:t>
          </a:r>
          <a:endParaRPr lang="en-US" sz="1300" kern="1200" dirty="0"/>
        </a:p>
      </dsp:txBody>
      <dsp:txXfrm>
        <a:off x="2412611" y="1516543"/>
        <a:ext cx="1715581" cy="1065201"/>
      </dsp:txXfrm>
    </dsp:sp>
    <dsp:sp modelId="{19696CD3-390D-4A3A-8A65-44C01429BF67}">
      <dsp:nvSpPr>
        <dsp:cNvPr id="0" name=""/>
        <dsp:cNvSpPr/>
      </dsp:nvSpPr>
      <dsp:spPr>
        <a:xfrm>
          <a:off x="4359317" y="1295317"/>
          <a:ext cx="1781861" cy="11314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A2753-E405-4AF1-A90C-09297FB6493B}">
      <dsp:nvSpPr>
        <dsp:cNvPr id="0" name=""/>
        <dsp:cNvSpPr/>
      </dsp:nvSpPr>
      <dsp:spPr>
        <a:xfrm>
          <a:off x="4557301" y="1483403"/>
          <a:ext cx="1781861" cy="11314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Recomenda seletores com menor risco de fragilidade.</a:t>
          </a:r>
          <a:endParaRPr lang="en-US" sz="1300" kern="1200" dirty="0"/>
        </a:p>
      </dsp:txBody>
      <dsp:txXfrm>
        <a:off x="4590441" y="1516543"/>
        <a:ext cx="1715581" cy="1065201"/>
      </dsp:txXfrm>
    </dsp:sp>
    <dsp:sp modelId="{378E23EF-4392-4C54-9F9C-2E8B674ED8D0}">
      <dsp:nvSpPr>
        <dsp:cNvPr id="0" name=""/>
        <dsp:cNvSpPr/>
      </dsp:nvSpPr>
      <dsp:spPr>
        <a:xfrm>
          <a:off x="6537147" y="1295317"/>
          <a:ext cx="1781861" cy="11314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1A6BF-5E6A-4C8C-ACC9-20BD434EFE35}">
      <dsp:nvSpPr>
        <dsp:cNvPr id="0" name=""/>
        <dsp:cNvSpPr/>
      </dsp:nvSpPr>
      <dsp:spPr>
        <a:xfrm>
          <a:off x="6735131" y="1483403"/>
          <a:ext cx="1781861" cy="11314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Inclui avisos de qualidade e cobertura da especificação.</a:t>
          </a:r>
          <a:endParaRPr lang="en-US" sz="1300" kern="1200"/>
        </a:p>
      </dsp:txBody>
      <dsp:txXfrm>
        <a:off x="6768271" y="1516543"/>
        <a:ext cx="1715581" cy="1065201"/>
      </dsp:txXfrm>
    </dsp:sp>
    <dsp:sp modelId="{1E960CAF-6AF1-4EAE-A4A6-BE66FDBE8B3A}">
      <dsp:nvSpPr>
        <dsp:cNvPr id="0" name=""/>
        <dsp:cNvSpPr/>
      </dsp:nvSpPr>
      <dsp:spPr>
        <a:xfrm>
          <a:off x="8714977" y="1295317"/>
          <a:ext cx="1781861" cy="11314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F4ACC-D5F1-4877-8B29-1D1CD3803F01}">
      <dsp:nvSpPr>
        <dsp:cNvPr id="0" name=""/>
        <dsp:cNvSpPr/>
      </dsp:nvSpPr>
      <dsp:spPr>
        <a:xfrm>
          <a:off x="8912962" y="1483403"/>
          <a:ext cx="1781861" cy="11314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Instrui a LLM a não inventar rotas, textos ou seletores quando houver evidência no grafo.</a:t>
          </a:r>
          <a:endParaRPr lang="en-US" sz="1300" kern="1200"/>
        </a:p>
      </dsp:txBody>
      <dsp:txXfrm>
        <a:off x="8946102" y="1516543"/>
        <a:ext cx="1715581" cy="10652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C943A8-8C61-45FD-9292-E8A4762D850F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B3E01-9316-4170-8284-9EC7AC5CD11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691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66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1130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Procurar Trabalhos sobre geração de testes com LLM para provar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090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questão central não é apenas gerar código, mas condicionar a geração por evidências verificáveis da aplicação.</a:t>
            </a:r>
            <a:endParaRPr lang="en-US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009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muitos sistemas, criar a primeira suíte de testes E2E exige mapear manualmente telas, fluxos, botões, textos e seletores. A proposta apoia essa etapa inicial ao transformar a navegação descoberta automaticamente em contexto para a LLM gerar testes mais próximos da aplicação real.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Auditabilidade é conseguir revisar, verificar e questionar como o resultado foi produzido.</a:t>
            </a:r>
          </a:p>
          <a:p>
            <a:r>
              <a:rPr lang="pt-BR" dirty="0"/>
              <a:t>Num prompt comum, a LLM gera o teste e muitas vezes não fica claro por que ela escolheu uma rota, um botão ou um seletor.</a:t>
            </a:r>
          </a:p>
          <a:p>
            <a:r>
              <a:rPr lang="pt-BR" dirty="0"/>
              <a:t>Na sua proposta, o prompt carrega dados estruturados:</a:t>
            </a:r>
          </a:p>
          <a:p>
            <a:r>
              <a:rPr lang="pt-BR" dirty="0"/>
              <a:t>páginas relevantes;</a:t>
            </a:r>
          </a:p>
          <a:p>
            <a:r>
              <a:rPr lang="pt-BR" dirty="0"/>
              <a:t>transições relevantes;</a:t>
            </a:r>
          </a:p>
          <a:p>
            <a:r>
              <a:rPr lang="pt-BR" dirty="0"/>
              <a:t>caminhos candidatos;</a:t>
            </a:r>
          </a:p>
          <a:p>
            <a:r>
              <a:rPr lang="pt-BR" dirty="0"/>
              <a:t>seletores recomendados;</a:t>
            </a:r>
          </a:p>
          <a:p>
            <a:r>
              <a:rPr lang="pt-BR" dirty="0"/>
              <a:t>status de coverage;</a:t>
            </a:r>
          </a:p>
          <a:p>
            <a:r>
              <a:rPr lang="pt-BR" dirty="0"/>
              <a:t>requisitos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supported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partial</a:t>
            </a:r>
            <a:r>
              <a:rPr lang="pt-BR" dirty="0"/>
              <a:t> ou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missing</a:t>
            </a:r>
            <a:r>
              <a:rPr lang="pt-BR" dirty="0"/>
              <a:t>.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dirty="0"/>
              <a:t>Rastreabilidade é conseguir explicar de onde veio cada parte do teste. Você consegue justificar que esse passo do teste não foi “inventado”: ele veio de uma evidência da interface.</a:t>
            </a:r>
            <a:br>
              <a:rPr lang="pt-BR" dirty="0"/>
            </a:b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170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atingir o objetivo geral, a pesquisa foi organizada em alguns objetivos específicos. Primeiro, explorar automaticamente a aplicação web e registrar sua estrutura navegacional em um grafo. Depois, a partir de uma especificação em linguagem natural, selecionar no grafo as evidências mais relevantes para aquele fluxo. Mais adiante eu detalho como essa seleção é feita por ranking. Também foi incluída uma etapa para estimar se a especificação está ou não sustentada pelo grafo, que será explicada depois como a camada de specification coverage. Por fim, essas evidências são usadas para montar prompts estruturados e avaliar os testes gerados.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757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Seleção automática de páginas... É feita por ranking: O ranking é feito em três níveis: páginas, transições e caminhos. Primeiro, a especificação em linguagem natural é normalizada para extrair termos relevantes. Esses termos são comparados com os dados do grafo, como título da página, URL, texto visível, texto dos elementos e atributos como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aria-label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role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pt-BR" dirty="0"/>
              <a:t> e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href</a:t>
            </a:r>
            <a:r>
              <a:rPr lang="pt-BR" dirty="0"/>
              <a:t>. Cada campo tem um peso diferente. Por exemplo, título e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h1</a:t>
            </a:r>
            <a:r>
              <a:rPr lang="pt-BR" dirty="0"/>
              <a:t> da página têm peso maior que um texto genérico, e o texto de um elemento clicável tem peso alto na transição. </a:t>
            </a:r>
          </a:p>
          <a:p>
            <a:r>
              <a:rPr lang="pt-BR" dirty="0"/>
              <a:t>Depois, a pontuação textual é combinada com a qualidade dos seletores. Transições com seletores mais robustos, como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getByRole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aria-label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pt-BR" dirty="0"/>
              <a:t> ou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pt-BR" dirty="0"/>
              <a:t>, são favorecidas, enquanto XPath,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nth-child</a:t>
            </a:r>
            <a:r>
              <a:rPr lang="pt-BR" dirty="0"/>
              <a:t> e seletores longos são penalizados. Por fim, o sistema monta caminhos candidatos a partir da página inicial e prioriza caminhos que chegam a páginas relevantes com menos passos e melhores transições.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799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LLM não recebe apenas uma descrição do usuário; ela recebe um recorte auditável da aplicação observada.</a:t>
            </a:r>
          </a:p>
          <a:p>
            <a:endParaRPr lang="pt-BR" dirty="0"/>
          </a:p>
          <a:p>
            <a:r>
              <a:rPr lang="pt-BR" dirty="0"/>
              <a:t>Por isso eu trato o grafo como fonte de verdade operacional do gerador. Ele não é uma verdade absoluta sobre toda a aplicação, porque o crawler pode não descobrir tudo. Mas ele é a fonte de verdade do que foi observado e pode ser auditado.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212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camada de cobertura atua como uma verificação antes da geração. Ela analisa se os requisitos descritos pelo usuário encontram apoio no grafo navegacional. Quando há evidência suficiente, o requisito é marcado como suportado. Quando há apenas parte da evidência, ele é parcial. E quando não há base suficiente no grafo, ele é marcado como ausente. Isso ajuda a evitar que a LLM seja induzida a inventar rotas, elementos ou ações que não foram observadas na aplicação.</a:t>
            </a:r>
          </a:p>
          <a:p>
            <a:br>
              <a:rPr lang="pt-BR" dirty="0"/>
            </a:br>
            <a:r>
              <a:rPr lang="pt-BR" b="1" dirty="0"/>
              <a:t>Resposta pronta se perguntarem “cobertura de quê?”</a:t>
            </a:r>
            <a:endParaRPr lang="pt-BR" dirty="0"/>
          </a:p>
          <a:p>
            <a:r>
              <a:rPr lang="pt-BR" dirty="0"/>
              <a:t>É cobertura da especificação pelo grafo navegacional. Ou seja, mede o quanto os requisitos descritos em linguagem natural encontram evidência nas páginas, transições e caminhos observados na aplicação.</a:t>
            </a:r>
          </a:p>
          <a:p>
            <a:r>
              <a:rPr lang="pt-BR" b="1" dirty="0"/>
              <a:t>Resposta pronta se perguntarem “isso é cobertura de código?”</a:t>
            </a:r>
            <a:endParaRPr lang="pt-BR" dirty="0"/>
          </a:p>
          <a:p>
            <a:r>
              <a:rPr lang="pt-BR" dirty="0"/>
              <a:t>Não. Não é cobertura de código nem cobertura de testes tradicional. É uma cobertura semântica da especificação em relação ao grafo extraído da interface.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892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fit_score</a:t>
            </a:r>
            <a:r>
              <a:rPr lang="pt-BR" dirty="0"/>
              <a:t> mede quanto um requisito da especificação está alinhado com as evidências encontradas no grafo. Para cada requisito, o sistema identifica elementos principais, como:</a:t>
            </a:r>
          </a:p>
          <a:p>
            <a:r>
              <a:rPr lang="pt-BR" dirty="0"/>
              <a:t>ação esperada;</a:t>
            </a:r>
          </a:p>
          <a:p>
            <a:r>
              <a:rPr lang="pt-BR" dirty="0"/>
              <a:t>objeto;</a:t>
            </a:r>
          </a:p>
          <a:p>
            <a:r>
              <a:rPr lang="pt-BR" dirty="0"/>
              <a:t>destino;</a:t>
            </a:r>
          </a:p>
          <a:p>
            <a:r>
              <a:rPr lang="pt-BR" dirty="0"/>
              <a:t>resultado esperado;</a:t>
            </a:r>
          </a:p>
          <a:p>
            <a:r>
              <a:rPr lang="pt-BR" dirty="0"/>
              <a:t>dados mencionados.</a:t>
            </a:r>
          </a:p>
          <a:p>
            <a:r>
              <a:rPr lang="pt-BR" dirty="0"/>
              <a:t>Cada elemento encontrado no grafo tem um peso e é feito um cálculo com esses pesos para gerar o fit_score</a:t>
            </a:r>
            <a:br>
              <a:rPr lang="pt-BR" dirty="0"/>
            </a:b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81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avaliação foi separada em três dimensões. A primeira é a qualidade técnica do teste gerado. Aqui eu verifico se o arquivo tem a estrutura mínima esperada para um teste Playwright: import correto, bloco de teste, asserções, ações de usuário e ausência de esperas frágeis.</a:t>
            </a:r>
          </a:p>
          <a:p>
            <a:r>
              <a:rPr lang="pt-BR" dirty="0"/>
              <a:t>A segunda dimensão é a aderência ao grafo. Como a proposta usa o grafo como fonte de evidência, eu verifico se o teste gerado usa URLs, textos, elementos e seletores que aparecem no grafo. Isso ajuda a identificar possíveis alucinações da LLM.</a:t>
            </a:r>
          </a:p>
          <a:p>
            <a:r>
              <a:rPr lang="pt-BR" dirty="0"/>
              <a:t>A terceira dimensão é a aderência semântica à especificação. Essa parte precisa de revisão humana, porque nem sempre uma análise automática consegue decidir se o fluxo faz sentido. O avaliador verifica se o teste executa os passos principais, interage com os elementos corretos e valida o resultado esperado.</a:t>
            </a:r>
          </a:p>
          <a:p>
            <a:r>
              <a:rPr lang="pt-BR" dirty="0"/>
              <a:t>Além disso, o resultado de execução é registrado, mas ele não é usado sozinho. Um teste pode falhar porque foi mal gerado, mas também pode falhar porque encontrou um comportamento ausente na aplicação ou por problema de ambiente.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717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srgbClr val="1F2937"/>
                </a:solidFill>
                <a:latin typeface="+mn-lt"/>
                <a:cs typeface="Aptos"/>
              </a:rPr>
              <a:t>Um teste pode falhar por revelar um comportamento ausente na aplicação. Por isso, a avaliação separa qualidade do teste, comportamento observado e causa provável da falha.</a:t>
            </a:r>
            <a:endParaRPr lang="pt-BR" sz="1200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583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ideia principal é que a LLM não recebe apenas a descrição do usuário. Ela recebe também informações observadas na aplicação, como páginas, transições, textos e seletores. Isso reduz a chance de ela criar rotas ou elementos inexistentes.</a:t>
            </a:r>
          </a:p>
          <a:p>
            <a:r>
              <a:rPr lang="pt-BR" dirty="0"/>
              <a:t>Outro ponto importante é que a proposta não esconde as limitações do grafo. Quando uma especificação não encontra evidência suficiente, isso aparece na camada de cobertura. Então a lacuna passa a ser informação para a geração e para a avaliação.</a:t>
            </a:r>
          </a:p>
          <a:p>
            <a:r>
              <a:rPr lang="pt-BR" dirty="0"/>
              <a:t>Também é importante separar a qualidade do teste do simples resultado de execução. Um teste pode falhar por erro de geração, por falha da aplicação ou por problema de ambiente. Por isso a avaliação combina métricas automáticas e revisão humana.</a:t>
            </a:r>
          </a:p>
          <a:p>
            <a:r>
              <a:rPr lang="pt-BR" dirty="0"/>
              <a:t>Em resumo, o objetivo não é prometer que a LLM nunca vai errar. O objetivo é tornar a geração mais fundamentada, rastreável e revisável.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B3E01-9316-4170-8284-9EC7AC5CD11A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11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ctangle"/>
          <p:cNvSpPr/>
          <p:nvPr/>
        </p:nvSpPr>
        <p:spPr>
          <a:xfrm>
            <a:off x="594360" y="2154682"/>
            <a:ext cx="123444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Box"/>
          <p:cNvSpPr txBox="1"/>
          <p:nvPr/>
        </p:nvSpPr>
        <p:spPr>
          <a:xfrm>
            <a:off x="594360" y="2426335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3500" b="1" dirty="0">
                <a:solidFill>
                  <a:srgbClr val="0F766E"/>
                </a:solidFill>
                <a:latin typeface="Aptos"/>
                <a:cs typeface="Aptos"/>
              </a:rPr>
              <a:t>Geração de Prompts Semânticos para Testes E2E com apoio de grafo navegacional</a:t>
            </a:r>
            <a:endParaRPr lang="pt-BR" sz="3500" dirty="0"/>
          </a:p>
        </p:txBody>
      </p:sp>
      <p:sp>
        <p:nvSpPr>
          <p:cNvPr id="6" name="Text Box"/>
          <p:cNvSpPr txBox="1"/>
          <p:nvPr/>
        </p:nvSpPr>
        <p:spPr>
          <a:xfrm>
            <a:off x="594360" y="4335780"/>
            <a:ext cx="98755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1650" dirty="0">
                <a:solidFill>
                  <a:srgbClr val="667085"/>
                </a:solidFill>
                <a:latin typeface="Aptos"/>
                <a:cs typeface="Aptos"/>
              </a:rPr>
              <a:t>Apresentação de defesa de mestrado</a:t>
            </a:r>
            <a:endParaRPr lang="pt-BR" sz="1650" dirty="0"/>
          </a:p>
          <a:p>
            <a:pPr marL="0" indent="0" algn="l"/>
            <a:r>
              <a:rPr lang="pt-BR" sz="1350" dirty="0">
                <a:solidFill>
                  <a:srgbClr val="1F2937"/>
                </a:solidFill>
                <a:latin typeface="Aptos"/>
                <a:cs typeface="Aptos"/>
              </a:rPr>
              <a:t>Discente: Gabriel Martins Spínola</a:t>
            </a:r>
          </a:p>
          <a:p>
            <a:pPr marL="0" indent="0" algn="l"/>
            <a:r>
              <a:rPr lang="pt-BR" sz="1350" dirty="0">
                <a:solidFill>
                  <a:srgbClr val="1F2937"/>
                </a:solidFill>
                <a:latin typeface="Aptos"/>
                <a:cs typeface="Aptos"/>
              </a:rPr>
              <a:t>Orientador: Eiji Adachi Medeiros Barbosa</a:t>
            </a:r>
          </a:p>
          <a:p>
            <a:pPr marL="0" indent="0" algn="l"/>
            <a:r>
              <a:rPr lang="pt-BR" sz="1350" dirty="0">
                <a:solidFill>
                  <a:srgbClr val="1F2937"/>
                </a:solidFill>
                <a:latin typeface="Aptos"/>
                <a:cs typeface="Aptos"/>
              </a:rPr>
              <a:t>Programa de Pós-Graduação em Tecnologia da Informação</a:t>
            </a:r>
            <a:endParaRPr lang="pt-BR" sz="1350" dirty="0"/>
          </a:p>
          <a:p>
            <a:pPr marL="0" indent="0" algn="l"/>
            <a:r>
              <a:rPr lang="pt-BR" sz="1250" dirty="0">
                <a:solidFill>
                  <a:srgbClr val="667085"/>
                </a:solidFill>
                <a:latin typeface="Aptos"/>
                <a:cs typeface="Aptos"/>
              </a:rPr>
              <a:t>Universidade Federal do Rio Grande do Norte</a:t>
            </a:r>
          </a:p>
          <a:p>
            <a:pPr marL="0" indent="0" algn="l"/>
            <a:r>
              <a:rPr lang="pt-BR" sz="1250" dirty="0">
                <a:solidFill>
                  <a:srgbClr val="667085"/>
                </a:solidFill>
                <a:latin typeface="Aptos"/>
                <a:cs typeface="Aptos"/>
              </a:rPr>
              <a:t>Junho/2026</a:t>
            </a:r>
            <a:endParaRPr lang="pt-BR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83C92683-BE88-3E72-C1F7-908C3B9B2CAD}"/>
              </a:ext>
            </a:extLst>
          </p:cNvPr>
          <p:cNvSpPr/>
          <p:nvPr/>
        </p:nvSpPr>
        <p:spPr>
          <a:xfrm>
            <a:off x="725527" y="4622291"/>
            <a:ext cx="530352" cy="53035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F789555C-66AE-C3DC-A795-65A957070111}"/>
              </a:ext>
            </a:extLst>
          </p:cNvPr>
          <p:cNvSpPr/>
          <p:nvPr/>
        </p:nvSpPr>
        <p:spPr>
          <a:xfrm>
            <a:off x="730238" y="3762374"/>
            <a:ext cx="530352" cy="53035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2C60A676-5E81-1A5F-5379-27F76700B251}"/>
              </a:ext>
            </a:extLst>
          </p:cNvPr>
          <p:cNvSpPr/>
          <p:nvPr/>
        </p:nvSpPr>
        <p:spPr>
          <a:xfrm>
            <a:off x="731520" y="2886075"/>
            <a:ext cx="530352" cy="53035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23A7626D-A695-0A3A-5FF8-28261CDE147C}"/>
              </a:ext>
            </a:extLst>
          </p:cNvPr>
          <p:cNvSpPr/>
          <p:nvPr/>
        </p:nvSpPr>
        <p:spPr>
          <a:xfrm>
            <a:off x="731520" y="2034539"/>
            <a:ext cx="530352" cy="53035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Roteiro da Defesa</a:t>
            </a:r>
            <a:endParaRPr lang="pt-BR" sz="2450"/>
          </a:p>
        </p:txBody>
      </p:sp>
      <p:sp>
        <p:nvSpPr>
          <p:cNvPr id="20" name="Rectangle"/>
          <p:cNvSpPr/>
          <p:nvPr/>
        </p:nvSpPr>
        <p:spPr>
          <a:xfrm>
            <a:off x="731520" y="1158240"/>
            <a:ext cx="530352" cy="53035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Box"/>
          <p:cNvSpPr txBox="1"/>
          <p:nvPr/>
        </p:nvSpPr>
        <p:spPr>
          <a:xfrm>
            <a:off x="731520" y="1316736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300" b="1">
                <a:solidFill>
                  <a:srgbClr val="FFFFFF"/>
                </a:solidFill>
                <a:latin typeface="Aptos"/>
                <a:cs typeface="Aptos"/>
              </a:rPr>
              <a:t>1</a:t>
            </a:r>
            <a:endParaRPr lang="pt-BR" sz="1300"/>
          </a:p>
        </p:txBody>
      </p:sp>
      <p:sp>
        <p:nvSpPr>
          <p:cNvPr id="22" name="Text Box"/>
          <p:cNvSpPr txBox="1"/>
          <p:nvPr/>
        </p:nvSpPr>
        <p:spPr>
          <a:xfrm>
            <a:off x="1481328" y="125272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1750">
                <a:solidFill>
                  <a:srgbClr val="1F2937"/>
                </a:solidFill>
                <a:latin typeface="Aptos"/>
                <a:cs typeface="Aptos"/>
              </a:rPr>
              <a:t>Problema e objetivos</a:t>
            </a:r>
            <a:endParaRPr lang="pt-BR" sz="1750"/>
          </a:p>
        </p:txBody>
      </p:sp>
      <p:sp>
        <p:nvSpPr>
          <p:cNvPr id="25" name="Text Box"/>
          <p:cNvSpPr txBox="1"/>
          <p:nvPr/>
        </p:nvSpPr>
        <p:spPr>
          <a:xfrm>
            <a:off x="731520" y="2185415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300" b="1">
                <a:solidFill>
                  <a:srgbClr val="FFFFFF"/>
                </a:solidFill>
                <a:latin typeface="Aptos"/>
                <a:cs typeface="Aptos"/>
              </a:rPr>
              <a:t>2</a:t>
            </a:r>
            <a:endParaRPr lang="pt-BR" sz="1300"/>
          </a:p>
        </p:txBody>
      </p:sp>
      <p:sp>
        <p:nvSpPr>
          <p:cNvPr id="26" name="Text Box"/>
          <p:cNvSpPr txBox="1"/>
          <p:nvPr/>
        </p:nvSpPr>
        <p:spPr>
          <a:xfrm>
            <a:off x="1481328" y="212140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1750">
                <a:solidFill>
                  <a:srgbClr val="1F2937"/>
                </a:solidFill>
                <a:latin typeface="Aptos"/>
                <a:cs typeface="Aptos"/>
              </a:rPr>
              <a:t>Fundamentação e trabalhos relacionados</a:t>
            </a:r>
            <a:endParaRPr lang="pt-BR" sz="1750"/>
          </a:p>
        </p:txBody>
      </p:sp>
      <p:sp>
        <p:nvSpPr>
          <p:cNvPr id="29" name="Text Box"/>
          <p:cNvSpPr txBox="1"/>
          <p:nvPr/>
        </p:nvSpPr>
        <p:spPr>
          <a:xfrm>
            <a:off x="731520" y="3054096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300" b="1">
                <a:solidFill>
                  <a:srgbClr val="FFFFFF"/>
                </a:solidFill>
                <a:latin typeface="Aptos"/>
                <a:cs typeface="Aptos"/>
              </a:rPr>
              <a:t>3</a:t>
            </a:r>
            <a:endParaRPr lang="pt-BR" sz="1300"/>
          </a:p>
        </p:txBody>
      </p:sp>
      <p:sp>
        <p:nvSpPr>
          <p:cNvPr id="30" name="Text Box"/>
          <p:cNvSpPr txBox="1"/>
          <p:nvPr/>
        </p:nvSpPr>
        <p:spPr>
          <a:xfrm>
            <a:off x="1481328" y="299008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1750">
                <a:solidFill>
                  <a:srgbClr val="1F2937"/>
                </a:solidFill>
                <a:latin typeface="Aptos"/>
                <a:cs typeface="Aptos"/>
              </a:rPr>
              <a:t>Proposta e arquitetura</a:t>
            </a:r>
            <a:endParaRPr lang="pt-BR" sz="1750"/>
          </a:p>
        </p:txBody>
      </p:sp>
      <p:sp>
        <p:nvSpPr>
          <p:cNvPr id="33" name="Text Box"/>
          <p:cNvSpPr txBox="1"/>
          <p:nvPr/>
        </p:nvSpPr>
        <p:spPr>
          <a:xfrm>
            <a:off x="731520" y="3922775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300" b="1">
                <a:solidFill>
                  <a:srgbClr val="FFFFFF"/>
                </a:solidFill>
                <a:latin typeface="Aptos"/>
                <a:cs typeface="Aptos"/>
              </a:rPr>
              <a:t>4</a:t>
            </a:r>
            <a:endParaRPr lang="pt-BR" sz="1300"/>
          </a:p>
        </p:txBody>
      </p:sp>
      <p:sp>
        <p:nvSpPr>
          <p:cNvPr id="34" name="Text Box"/>
          <p:cNvSpPr txBox="1"/>
          <p:nvPr/>
        </p:nvSpPr>
        <p:spPr>
          <a:xfrm>
            <a:off x="1481328" y="3858767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1750">
                <a:solidFill>
                  <a:srgbClr val="1F2937"/>
                </a:solidFill>
                <a:latin typeface="Aptos"/>
                <a:cs typeface="Aptos"/>
              </a:rPr>
              <a:t>Metodologia de avaliação</a:t>
            </a:r>
            <a:endParaRPr lang="pt-BR" sz="1750"/>
          </a:p>
        </p:txBody>
      </p:sp>
      <p:sp>
        <p:nvSpPr>
          <p:cNvPr id="37" name="Text Box"/>
          <p:cNvSpPr txBox="1"/>
          <p:nvPr/>
        </p:nvSpPr>
        <p:spPr>
          <a:xfrm>
            <a:off x="731520" y="4791456"/>
            <a:ext cx="5303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300" b="1">
                <a:solidFill>
                  <a:srgbClr val="FFFFFF"/>
                </a:solidFill>
                <a:latin typeface="Aptos"/>
                <a:cs typeface="Aptos"/>
              </a:rPr>
              <a:t>5</a:t>
            </a:r>
            <a:endParaRPr lang="pt-BR" sz="1300"/>
          </a:p>
        </p:txBody>
      </p:sp>
      <p:sp>
        <p:nvSpPr>
          <p:cNvPr id="38" name="Text Box"/>
          <p:cNvSpPr txBox="1"/>
          <p:nvPr/>
        </p:nvSpPr>
        <p:spPr>
          <a:xfrm>
            <a:off x="1481328" y="47274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1750">
                <a:solidFill>
                  <a:srgbClr val="1F2937"/>
                </a:solidFill>
                <a:latin typeface="Aptos"/>
                <a:cs typeface="Aptos"/>
              </a:rPr>
              <a:t>Resultados, contribuições e conclusão</a:t>
            </a:r>
            <a:endParaRPr lang="pt-BR" sz="17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2</a:t>
            </a:r>
            <a:endParaRPr lang="pt-BR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Contextualização</a:t>
            </a:r>
            <a:endParaRPr lang="pt-BR" sz="24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 dirty="0">
                <a:solidFill>
                  <a:srgbClr val="667085"/>
                </a:solidFill>
                <a:latin typeface="Aptos"/>
                <a:cs typeface="Aptos"/>
              </a:rPr>
              <a:t>3</a:t>
            </a:r>
            <a:endParaRPr lang="pt-BR" sz="900" dirty="0"/>
          </a:p>
        </p:txBody>
      </p:sp>
      <p:graphicFrame>
        <p:nvGraphicFramePr>
          <p:cNvPr id="902" name="Bullets">
            <a:extLst>
              <a:ext uri="{FF2B5EF4-FFF2-40B4-BE49-F238E27FC236}">
                <a16:creationId xmlns:a16="http://schemas.microsoft.com/office/drawing/2014/main" id="{C75868C0-747B-C5C2-8D08-689E76F80871}"/>
              </a:ext>
            </a:extLst>
          </p:cNvPr>
          <p:cNvGraphicFramePr/>
          <p:nvPr/>
        </p:nvGraphicFramePr>
        <p:xfrm>
          <a:off x="685800" y="1261872"/>
          <a:ext cx="106984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Problema Prático</a:t>
            </a:r>
            <a:endParaRPr lang="pt-BR" sz="24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4</a:t>
            </a:r>
            <a:endParaRPr lang="pt-BR" sz="900"/>
          </a:p>
        </p:txBody>
      </p:sp>
      <p:graphicFrame>
        <p:nvGraphicFramePr>
          <p:cNvPr id="902" name="Bullets">
            <a:extLst>
              <a:ext uri="{FF2B5EF4-FFF2-40B4-BE49-F238E27FC236}">
                <a16:creationId xmlns:a16="http://schemas.microsoft.com/office/drawing/2014/main" id="{FF705509-0A48-9336-2D95-37081195C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1929268"/>
              </p:ext>
            </p:extLst>
          </p:nvPr>
        </p:nvGraphicFramePr>
        <p:xfrm>
          <a:off x="685800" y="1261872"/>
          <a:ext cx="106984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Problema de Pesquisa</a:t>
            </a:r>
            <a:endParaRPr lang="pt-BR" sz="24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5</a:t>
            </a:r>
            <a:endParaRPr lang="pt-BR" sz="900"/>
          </a:p>
        </p:txBody>
      </p:sp>
      <p:graphicFrame>
        <p:nvGraphicFramePr>
          <p:cNvPr id="902" name="Bullets">
            <a:extLst>
              <a:ext uri="{FF2B5EF4-FFF2-40B4-BE49-F238E27FC236}">
                <a16:creationId xmlns:a16="http://schemas.microsoft.com/office/drawing/2014/main" id="{8F44E832-96EC-C67A-33A3-CC44CDD2BB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648441"/>
              </p:ext>
            </p:extLst>
          </p:nvPr>
        </p:nvGraphicFramePr>
        <p:xfrm>
          <a:off x="685800" y="1261872"/>
          <a:ext cx="106984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Justificativa</a:t>
            </a:r>
            <a:endParaRPr lang="pt-BR" sz="24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6</a:t>
            </a:r>
            <a:endParaRPr lang="pt-BR" sz="900"/>
          </a:p>
        </p:txBody>
      </p:sp>
      <p:graphicFrame>
        <p:nvGraphicFramePr>
          <p:cNvPr id="902" name="Bullets">
            <a:extLst>
              <a:ext uri="{FF2B5EF4-FFF2-40B4-BE49-F238E27FC236}">
                <a16:creationId xmlns:a16="http://schemas.microsoft.com/office/drawing/2014/main" id="{74CB8D6D-EFAC-8058-971D-92903BF81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6435712"/>
              </p:ext>
            </p:extLst>
          </p:nvPr>
        </p:nvGraphicFramePr>
        <p:xfrm>
          <a:off x="685800" y="1261872"/>
          <a:ext cx="106984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Objetivos</a:t>
            </a:r>
            <a:endParaRPr lang="pt-BR" sz="2450"/>
          </a:p>
        </p:txBody>
      </p:sp>
      <p:sp>
        <p:nvSpPr>
          <p:cNvPr id="10" name="Bullets"/>
          <p:cNvSpPr txBox="1"/>
          <p:nvPr/>
        </p:nvSpPr>
        <p:spPr>
          <a:xfrm>
            <a:off x="685800" y="1261872"/>
            <a:ext cx="10698480" cy="480060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80000" tIns="180000" rIns="180000" bIns="180000" anchor="t"/>
          <a:lstStyle/>
          <a:p>
            <a:pPr marL="482900" indent="-342900" algn="l">
              <a:buFont typeface="Arial" panose="020B0604020202020204" pitchFamily="34" charset="0"/>
              <a:buChar char="•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Objetivo geral: propor e avaliar um pipeline de geração de prompts semânticos para orientar LLMs na criação de testes E2E.</a:t>
            </a:r>
            <a:endParaRPr lang="pt-BR" sz="1850" dirty="0"/>
          </a:p>
          <a:p>
            <a:pPr marL="482900" indent="-342900" algn="l">
              <a:buFont typeface="Arial" panose="020B0604020202020204" pitchFamily="34" charset="0"/>
              <a:buChar char="•"/>
            </a:pPr>
            <a:endParaRPr lang="pt-BR" sz="1850" dirty="0">
              <a:solidFill>
                <a:srgbClr val="1F2937"/>
              </a:solidFill>
              <a:latin typeface="Aptos"/>
              <a:cs typeface="Aptos"/>
            </a:endParaRPr>
          </a:p>
          <a:p>
            <a:pPr marL="482900" indent="-342900" algn="l">
              <a:buFont typeface="Arial" panose="020B0604020202020204" pitchFamily="34" charset="0"/>
              <a:buChar char="•"/>
            </a:pPr>
            <a:endParaRPr lang="pt-BR" sz="1850" dirty="0">
              <a:solidFill>
                <a:srgbClr val="1F2937"/>
              </a:solidFill>
              <a:latin typeface="Aptos"/>
              <a:cs typeface="Aptos"/>
            </a:endParaRPr>
          </a:p>
          <a:p>
            <a:pPr marL="482900" indent="-342900" algn="l">
              <a:buFont typeface="Arial" panose="020B0604020202020204" pitchFamily="34" charset="0"/>
              <a:buChar char="•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Objetivos específicos: </a:t>
            </a:r>
          </a:p>
          <a:p>
            <a:pPr marL="597200" lvl="8" indent="-457200" algn="l">
              <a:buFont typeface="+mj-lt"/>
              <a:buAutoNum type="arabicPeriod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Explorar automaticamente a aplicação web;</a:t>
            </a:r>
          </a:p>
          <a:p>
            <a:pPr marL="597200" lvl="8" indent="-457200" algn="l">
              <a:buFont typeface="+mj-lt"/>
              <a:buAutoNum type="arabicPeriod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Representar páginas, transições, textos e seletores em um grafo;</a:t>
            </a:r>
          </a:p>
          <a:p>
            <a:pPr marL="597200" lvl="8" indent="-457200" algn="l">
              <a:buFont typeface="+mj-lt"/>
              <a:buAutoNum type="arabicPeriod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Selecionar evidências relevantes do grafo para cada especificação;</a:t>
            </a:r>
          </a:p>
          <a:p>
            <a:pPr marL="597200" lvl="8" indent="-457200" algn="l">
              <a:buFont typeface="+mj-lt"/>
              <a:buAutoNum type="arabicPeriod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Verificar se a especificação está sustentada pelas evidências encontradas;</a:t>
            </a:r>
          </a:p>
          <a:p>
            <a:pPr marL="597200" lvl="8" indent="-457200" algn="l">
              <a:buFont typeface="+mj-lt"/>
              <a:buAutoNum type="arabicPeriod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Gerar prompts estruturados para testes E2E Playwright; </a:t>
            </a:r>
          </a:p>
          <a:p>
            <a:pPr marL="597200" lvl="8" indent="-457200" algn="l">
              <a:buFont typeface="+mj-lt"/>
              <a:buAutoNum type="arabicPeriod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Avaliar os testes gerados em comparação com uma abordagem baseline.</a:t>
            </a:r>
          </a:p>
          <a:p>
            <a:pPr marL="597200" lvl="8" indent="-457200" algn="l">
              <a:buFont typeface="+mj-lt"/>
              <a:buAutoNum type="arabicPeriod"/>
            </a:pPr>
            <a:endParaRPr lang="pt-BR" sz="1850" dirty="0">
              <a:solidFill>
                <a:srgbClr val="1F2937"/>
              </a:solidFill>
              <a:latin typeface="Aptos"/>
              <a:cs typeface="Aptos"/>
            </a:endParaRPr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7</a:t>
            </a:r>
            <a:endParaRPr lang="pt-BR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Perguntas de Pesquisa e Hipótese</a:t>
            </a:r>
            <a:endParaRPr lang="pt-BR" sz="2450"/>
          </a:p>
        </p:txBody>
      </p:sp>
      <p:sp>
        <p:nvSpPr>
          <p:cNvPr id="10" name="Text Box"/>
          <p:cNvSpPr txBox="1"/>
          <p:nvPr/>
        </p:nvSpPr>
        <p:spPr>
          <a:xfrm>
            <a:off x="685800" y="1078992"/>
            <a:ext cx="5394960" cy="525780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50000" tIns="150000" rIns="150000" bIns="150000" anchor="t"/>
          <a:lstStyle/>
          <a:p>
            <a:pPr marL="0" indent="0" algn="l"/>
            <a:r>
              <a:rPr lang="pt-BR" sz="1600" b="1" dirty="0">
                <a:solidFill>
                  <a:srgbClr val="0F766E"/>
                </a:solidFill>
                <a:latin typeface="Aptos"/>
                <a:cs typeface="Aptos"/>
              </a:rPr>
              <a:t>Perguntas de pesquisa</a:t>
            </a:r>
            <a:endParaRPr lang="pt-BR" sz="1600" dirty="0"/>
          </a:p>
          <a:p>
            <a:pPr marL="360000" indent="-220000" algn="l">
              <a:buChar char="•"/>
            </a:pPr>
            <a:r>
              <a:rPr lang="pt-BR" sz="1180" dirty="0">
                <a:solidFill>
                  <a:srgbClr val="1F2937"/>
                </a:solidFill>
                <a:latin typeface="Aptos"/>
                <a:cs typeface="Aptos"/>
              </a:rPr>
              <a:t>RQ1: O uso de contexto extraído da aplicação real reduz a geração de rotas, elementos e seletores inexistentes em testes E2E produzidos por LLM?</a:t>
            </a:r>
          </a:p>
          <a:p>
            <a:pPr marL="360000" indent="-220000" algn="l">
              <a:buChar char="•"/>
            </a:pPr>
            <a:r>
              <a:rPr lang="pt-BR" sz="1180" dirty="0">
                <a:solidFill>
                  <a:srgbClr val="1F2937"/>
                </a:solidFill>
                <a:latin typeface="Aptos"/>
                <a:cs typeface="Aptos"/>
              </a:rPr>
              <a:t>RQ2: A seleção automática de páginas, transições e caminhos relevantes melhora a aderência do teste gerado ao fluxo descrito em linguagem natural?</a:t>
            </a:r>
          </a:p>
          <a:p>
            <a:pPr marL="360000" indent="-220000" algn="l">
              <a:buChar char="•"/>
            </a:pPr>
            <a:r>
              <a:rPr lang="pt-BR" sz="1180" dirty="0">
                <a:solidFill>
                  <a:srgbClr val="1F2937"/>
                </a:solidFill>
                <a:latin typeface="Aptos"/>
                <a:cs typeface="Aptos"/>
              </a:rPr>
              <a:t>RQ3: A recomendação de seletores com base nas evidências do grafo contribui para testes mais robustos e legíveis?</a:t>
            </a:r>
          </a:p>
          <a:p>
            <a:pPr marL="360000" indent="-220000" algn="l">
              <a:buChar char="•"/>
            </a:pPr>
            <a:r>
              <a:rPr lang="pt-BR" sz="1180" dirty="0">
                <a:solidFill>
                  <a:srgbClr val="1F2937"/>
                </a:solidFill>
                <a:latin typeface="Aptos"/>
                <a:cs typeface="Aptos"/>
              </a:rPr>
              <a:t>RQ4: Qual é o custo prático da abordagem em termos de tamanho do prompt, tempo de geração e necessidade de revisão manual?</a:t>
            </a:r>
            <a:endParaRPr lang="pt-BR" sz="1180" dirty="0"/>
          </a:p>
        </p:txBody>
      </p:sp>
      <p:sp>
        <p:nvSpPr>
          <p:cNvPr id="20" name="Text Box"/>
          <p:cNvSpPr txBox="1"/>
          <p:nvPr/>
        </p:nvSpPr>
        <p:spPr>
          <a:xfrm>
            <a:off x="6400800" y="1078992"/>
            <a:ext cx="5074920" cy="525780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70000" tIns="170000" rIns="170000" bIns="170000" anchor="t"/>
          <a:lstStyle/>
          <a:p>
            <a:pPr marL="0" indent="0" algn="l"/>
            <a:r>
              <a:rPr lang="pt-BR" sz="1600" b="1">
                <a:solidFill>
                  <a:srgbClr val="F59E0B"/>
                </a:solidFill>
                <a:latin typeface="Aptos"/>
                <a:cs typeface="Aptos"/>
              </a:rPr>
              <a:t>Hipótese</a:t>
            </a:r>
            <a:endParaRPr lang="pt-BR" sz="1600"/>
          </a:p>
          <a:p>
            <a:pPr marL="0" indent="0" algn="l"/>
            <a:r>
              <a:rPr lang="pt-BR" sz="1500">
                <a:solidFill>
                  <a:srgbClr val="1F2937"/>
                </a:solidFill>
                <a:latin typeface="Aptos"/>
                <a:cs typeface="Aptos"/>
              </a:rPr>
              <a:t>Testes gerados com especificação em linguagem natural e contexto semântico do grafo devem apresentar maior aderência conceitual, menor alucinação de rotas/seletores e maior robustez técnica do que testes gerados apenas com a especificação textual.</a:t>
            </a:r>
            <a:endParaRPr lang="pt-BR" sz="150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8</a:t>
            </a:r>
            <a:endParaRPr lang="pt-BR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Fundamentação Teórica</a:t>
            </a:r>
            <a:endParaRPr lang="pt-BR" sz="2450"/>
          </a:p>
        </p:txBody>
      </p:sp>
      <p:sp>
        <p:nvSpPr>
          <p:cNvPr id="10" name="Bullets"/>
          <p:cNvSpPr txBox="1"/>
          <p:nvPr/>
        </p:nvSpPr>
        <p:spPr>
          <a:xfrm>
            <a:off x="685800" y="1261872"/>
            <a:ext cx="10698480" cy="480060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80000" tIns="180000" rIns="180000" bIns="180000" anchor="t"/>
          <a:lstStyle/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Testes E2E e automação com Playwright.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Web crawling e modelagem de estados navegacionais.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LLMs para geração de código e testes.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Grounding e recuperação de contexto para reduzir alucinação.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Robustez de seletores em testes de interface.</a:t>
            </a:r>
            <a:endParaRPr lang="pt-BR" sz="18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9</a:t>
            </a:r>
            <a:endParaRPr lang="pt-BR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Trabalhos Relacionados</a:t>
            </a:r>
            <a:endParaRPr lang="pt-BR" sz="2450"/>
          </a:p>
        </p:txBody>
      </p:sp>
      <p:sp>
        <p:nvSpPr>
          <p:cNvPr id="10" name="Bullets"/>
          <p:cNvSpPr txBox="1"/>
          <p:nvPr/>
        </p:nvSpPr>
        <p:spPr>
          <a:xfrm>
            <a:off x="685800" y="1261872"/>
            <a:ext cx="10698480" cy="480060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80000" tIns="180000" rIns="180000" bIns="180000" anchor="t"/>
          <a:lstStyle/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Geração automática de testes para aplicações web.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Uso de LLMs para geração de código e testes.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Ferramentas de crawling e descoberta de estados.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Técnicas de RAG/grounding aplicadas à engenharia de software.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Lacuna explorada: combinar grafo navegacional semântico com geração de prompts auditáveis para E2E.</a:t>
            </a:r>
            <a:endParaRPr lang="pt-BR" sz="18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10</a:t>
            </a:r>
            <a:endParaRPr lang="pt-BR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B573FCE3-DCD6-C46E-576A-4B1F65AFB359}"/>
              </a:ext>
            </a:extLst>
          </p:cNvPr>
          <p:cNvSpPr/>
          <p:nvPr/>
        </p:nvSpPr>
        <p:spPr>
          <a:xfrm>
            <a:off x="2537460" y="3435768"/>
            <a:ext cx="7025144" cy="1340448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2563EB"/>
            </a:solidFill>
          </a:ln>
        </p:spPr>
        <p:txBody>
          <a:bodyPr/>
          <a:lstStyle/>
          <a:p>
            <a:pPr algn="ctr"/>
            <a:r>
              <a:rPr lang="pt-BR" sz="1200" dirty="0">
                <a:solidFill>
                  <a:srgbClr val="667085"/>
                </a:solidFill>
                <a:latin typeface="Aptos"/>
                <a:cs typeface="Aptos"/>
              </a:rPr>
              <a:t>Etapa posterior ao gerador de prompt</a:t>
            </a:r>
          </a:p>
        </p:txBody>
      </p:sp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Visão Geral da Proposta</a:t>
            </a:r>
            <a:endParaRPr lang="pt-BR" sz="2450"/>
          </a:p>
        </p:txBody>
      </p:sp>
      <p:sp>
        <p:nvSpPr>
          <p:cNvPr id="4" name="Subtitle"/>
          <p:cNvSpPr txBox="1"/>
          <p:nvPr/>
        </p:nvSpPr>
        <p:spPr>
          <a:xfrm>
            <a:off x="8275320" y="4114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1050" dirty="0">
                <a:solidFill>
                  <a:srgbClr val="667085"/>
                </a:solidFill>
                <a:latin typeface="Aptos"/>
                <a:cs typeface="Aptos"/>
              </a:rPr>
              <a:t>pipeline proposto</a:t>
            </a:r>
            <a:endParaRPr lang="pt-BR" sz="1050" dirty="0"/>
          </a:p>
        </p:txBody>
      </p:sp>
      <p:sp>
        <p:nvSpPr>
          <p:cNvPr id="20" name="Rectangle"/>
          <p:cNvSpPr/>
          <p:nvPr/>
        </p:nvSpPr>
        <p:spPr>
          <a:xfrm>
            <a:off x="502920" y="1844040"/>
            <a:ext cx="1783080" cy="777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0F766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Box"/>
          <p:cNvSpPr txBox="1"/>
          <p:nvPr/>
        </p:nvSpPr>
        <p:spPr>
          <a:xfrm>
            <a:off x="576072" y="20452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b="1">
                <a:solidFill>
                  <a:srgbClr val="1F2937"/>
                </a:solidFill>
                <a:latin typeface="Aptos"/>
                <a:cs typeface="Aptos"/>
              </a:rPr>
              <a:t>Aplicação web</a:t>
            </a:r>
            <a:endParaRPr lang="pt-BR" sz="1050"/>
          </a:p>
        </p:txBody>
      </p:sp>
      <p:cxnSp>
        <p:nvCxnSpPr>
          <p:cNvPr id="22" name="Line"/>
          <p:cNvCxnSpPr>
            <a:cxnSpLocks/>
            <a:endCxn id="25" idx="1"/>
          </p:cNvCxnSpPr>
          <p:nvPr/>
        </p:nvCxnSpPr>
        <p:spPr>
          <a:xfrm flipV="1">
            <a:off x="2286000" y="2232660"/>
            <a:ext cx="502920" cy="4572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25" name="Rectangle"/>
          <p:cNvSpPr/>
          <p:nvPr/>
        </p:nvSpPr>
        <p:spPr>
          <a:xfrm>
            <a:off x="2788920" y="1844040"/>
            <a:ext cx="1783080" cy="777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2563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Box"/>
          <p:cNvSpPr txBox="1"/>
          <p:nvPr/>
        </p:nvSpPr>
        <p:spPr>
          <a:xfrm>
            <a:off x="2862072" y="20452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b="1" dirty="0">
                <a:solidFill>
                  <a:srgbClr val="1F2937"/>
                </a:solidFill>
                <a:latin typeface="Aptos"/>
                <a:cs typeface="Aptos"/>
              </a:rPr>
              <a:t>Exploração automática</a:t>
            </a:r>
            <a:endParaRPr lang="pt-BR" sz="1050" dirty="0"/>
          </a:p>
        </p:txBody>
      </p:sp>
      <p:cxnSp>
        <p:nvCxnSpPr>
          <p:cNvPr id="27" name="Line"/>
          <p:cNvCxnSpPr>
            <a:cxnSpLocks/>
            <a:endCxn id="30" idx="1"/>
          </p:cNvCxnSpPr>
          <p:nvPr/>
        </p:nvCxnSpPr>
        <p:spPr>
          <a:xfrm flipV="1">
            <a:off x="4572000" y="2232660"/>
            <a:ext cx="502920" cy="4572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30" name="Rectangle"/>
          <p:cNvSpPr/>
          <p:nvPr/>
        </p:nvSpPr>
        <p:spPr>
          <a:xfrm>
            <a:off x="5074920" y="1844040"/>
            <a:ext cx="1783080" cy="777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F59E0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Box"/>
          <p:cNvSpPr txBox="1"/>
          <p:nvPr/>
        </p:nvSpPr>
        <p:spPr>
          <a:xfrm>
            <a:off x="5148072" y="20452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b="1" dirty="0">
                <a:solidFill>
                  <a:srgbClr val="1F2937"/>
                </a:solidFill>
                <a:latin typeface="Aptos"/>
                <a:cs typeface="Aptos"/>
              </a:rPr>
              <a:t>Grafo da interface (Grafo navegacional)</a:t>
            </a:r>
            <a:endParaRPr lang="pt-BR" sz="1050" dirty="0"/>
          </a:p>
        </p:txBody>
      </p:sp>
      <p:cxnSp>
        <p:nvCxnSpPr>
          <p:cNvPr id="32" name="Line"/>
          <p:cNvCxnSpPr>
            <a:cxnSpLocks/>
            <a:endCxn id="35" idx="1"/>
          </p:cNvCxnSpPr>
          <p:nvPr/>
        </p:nvCxnSpPr>
        <p:spPr>
          <a:xfrm flipV="1">
            <a:off x="6858000" y="2232660"/>
            <a:ext cx="502920" cy="4572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35" name="Rectangle"/>
          <p:cNvSpPr/>
          <p:nvPr/>
        </p:nvSpPr>
        <p:spPr>
          <a:xfrm>
            <a:off x="7360920" y="1844040"/>
            <a:ext cx="1783080" cy="777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7C3AE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Box"/>
          <p:cNvSpPr txBox="1"/>
          <p:nvPr/>
        </p:nvSpPr>
        <p:spPr>
          <a:xfrm>
            <a:off x="7434072" y="20452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b="1" dirty="0">
                <a:solidFill>
                  <a:srgbClr val="1F2937"/>
                </a:solidFill>
                <a:latin typeface="Aptos"/>
                <a:cs typeface="Aptos"/>
              </a:rPr>
              <a:t>Especificação em linguagem natural</a:t>
            </a:r>
            <a:endParaRPr lang="pt-BR" sz="1050" dirty="0"/>
          </a:p>
        </p:txBody>
      </p:sp>
      <p:cxnSp>
        <p:nvCxnSpPr>
          <p:cNvPr id="37" name="Line"/>
          <p:cNvCxnSpPr>
            <a:cxnSpLocks/>
            <a:endCxn id="40" idx="1"/>
          </p:cNvCxnSpPr>
          <p:nvPr/>
        </p:nvCxnSpPr>
        <p:spPr>
          <a:xfrm flipV="1">
            <a:off x="9144000" y="2232660"/>
            <a:ext cx="502920" cy="4572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40" name="Rectangle"/>
          <p:cNvSpPr/>
          <p:nvPr/>
        </p:nvSpPr>
        <p:spPr>
          <a:xfrm>
            <a:off x="9646920" y="1844040"/>
            <a:ext cx="1783080" cy="777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16A34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Box"/>
          <p:cNvSpPr txBox="1"/>
          <p:nvPr/>
        </p:nvSpPr>
        <p:spPr>
          <a:xfrm>
            <a:off x="9720072" y="20452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b="1" dirty="0">
                <a:solidFill>
                  <a:srgbClr val="1F2937"/>
                </a:solidFill>
                <a:latin typeface="Aptos"/>
                <a:cs typeface="Aptos"/>
              </a:rPr>
              <a:t>Seleção e verificação de evidências</a:t>
            </a:r>
            <a:endParaRPr lang="pt-BR" sz="1050" dirty="0"/>
          </a:p>
        </p:txBody>
      </p:sp>
      <p:sp>
        <p:nvSpPr>
          <p:cNvPr id="45" name="Rectangle"/>
          <p:cNvSpPr/>
          <p:nvPr/>
        </p:nvSpPr>
        <p:spPr>
          <a:xfrm>
            <a:off x="502920" y="3810000"/>
            <a:ext cx="1783080" cy="777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0F766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Box"/>
          <p:cNvSpPr txBox="1"/>
          <p:nvPr/>
        </p:nvSpPr>
        <p:spPr>
          <a:xfrm>
            <a:off x="576072" y="401116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b="1" dirty="0">
                <a:solidFill>
                  <a:srgbClr val="1F2937"/>
                </a:solidFill>
                <a:latin typeface="Aptos"/>
                <a:cs typeface="Aptos"/>
              </a:rPr>
              <a:t>Geração de Prompt semântico</a:t>
            </a:r>
            <a:endParaRPr lang="pt-BR" sz="1050" dirty="0"/>
          </a:p>
        </p:txBody>
      </p:sp>
      <p:cxnSp>
        <p:nvCxnSpPr>
          <p:cNvPr id="47" name="Line"/>
          <p:cNvCxnSpPr>
            <a:cxnSpLocks/>
            <a:endCxn id="50" idx="1"/>
          </p:cNvCxnSpPr>
          <p:nvPr/>
        </p:nvCxnSpPr>
        <p:spPr>
          <a:xfrm flipV="1">
            <a:off x="2286000" y="4198620"/>
            <a:ext cx="502920" cy="4572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50" name="Rectangle"/>
          <p:cNvSpPr/>
          <p:nvPr/>
        </p:nvSpPr>
        <p:spPr>
          <a:xfrm>
            <a:off x="2788920" y="3810000"/>
            <a:ext cx="1783080" cy="777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2563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Box"/>
          <p:cNvSpPr txBox="1"/>
          <p:nvPr/>
        </p:nvSpPr>
        <p:spPr>
          <a:xfrm>
            <a:off x="2862072" y="401116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b="1" dirty="0">
                <a:solidFill>
                  <a:srgbClr val="1F2937"/>
                </a:solidFill>
                <a:latin typeface="Aptos"/>
                <a:cs typeface="Aptos"/>
              </a:rPr>
              <a:t>LLM</a:t>
            </a:r>
            <a:endParaRPr lang="pt-BR" sz="1050" dirty="0"/>
          </a:p>
        </p:txBody>
      </p:sp>
      <p:cxnSp>
        <p:nvCxnSpPr>
          <p:cNvPr id="52" name="Line"/>
          <p:cNvCxnSpPr>
            <a:cxnSpLocks/>
            <a:endCxn id="55" idx="1"/>
          </p:cNvCxnSpPr>
          <p:nvPr/>
        </p:nvCxnSpPr>
        <p:spPr>
          <a:xfrm flipV="1">
            <a:off x="4572000" y="4198620"/>
            <a:ext cx="502920" cy="4572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55" name="Rectangle"/>
          <p:cNvSpPr/>
          <p:nvPr/>
        </p:nvSpPr>
        <p:spPr>
          <a:xfrm>
            <a:off x="5074920" y="3810000"/>
            <a:ext cx="1783080" cy="777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F59E0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Box"/>
          <p:cNvSpPr txBox="1"/>
          <p:nvPr/>
        </p:nvSpPr>
        <p:spPr>
          <a:xfrm>
            <a:off x="5148072" y="401116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b="1" dirty="0">
                <a:solidFill>
                  <a:srgbClr val="1F2937"/>
                </a:solidFill>
                <a:latin typeface="Aptos"/>
                <a:cs typeface="Aptos"/>
              </a:rPr>
              <a:t>Teste E2E</a:t>
            </a:r>
            <a:endParaRPr lang="pt-BR" sz="1050" dirty="0"/>
          </a:p>
        </p:txBody>
      </p:sp>
      <p:cxnSp>
        <p:nvCxnSpPr>
          <p:cNvPr id="57" name="Line"/>
          <p:cNvCxnSpPr>
            <a:cxnSpLocks/>
            <a:endCxn id="60" idx="1"/>
          </p:cNvCxnSpPr>
          <p:nvPr/>
        </p:nvCxnSpPr>
        <p:spPr>
          <a:xfrm flipV="1">
            <a:off x="6858000" y="4198620"/>
            <a:ext cx="502920" cy="4572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60" name="Rectangle"/>
          <p:cNvSpPr/>
          <p:nvPr/>
        </p:nvSpPr>
        <p:spPr>
          <a:xfrm>
            <a:off x="7360920" y="3810000"/>
            <a:ext cx="1783080" cy="777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7C3AE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Box"/>
          <p:cNvSpPr txBox="1"/>
          <p:nvPr/>
        </p:nvSpPr>
        <p:spPr>
          <a:xfrm>
            <a:off x="7434072" y="401116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b="1">
                <a:solidFill>
                  <a:srgbClr val="1F2937"/>
                </a:solidFill>
                <a:latin typeface="Aptos"/>
                <a:cs typeface="Aptos"/>
              </a:rPr>
              <a:t>Avaliação</a:t>
            </a:r>
            <a:endParaRPr lang="pt-BR" sz="1050"/>
          </a:p>
        </p:txBody>
      </p:sp>
      <p:cxnSp>
        <p:nvCxnSpPr>
          <p:cNvPr id="80" name="Line"/>
          <p:cNvCxnSpPr>
            <a:cxnSpLocks/>
            <a:stCxn id="40" idx="2"/>
            <a:endCxn id="45" idx="0"/>
          </p:cNvCxnSpPr>
          <p:nvPr/>
        </p:nvCxnSpPr>
        <p:spPr>
          <a:xfrm rot="5400000">
            <a:off x="5372100" y="-1356360"/>
            <a:ext cx="1188720" cy="9144000"/>
          </a:xfrm>
          <a:prstGeom prst="bentConnector3">
            <a:avLst>
              <a:gd name="adj1" fmla="val 50000"/>
            </a:avLst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90" name="Text Box"/>
          <p:cNvSpPr txBox="1"/>
          <p:nvPr/>
        </p:nvSpPr>
        <p:spPr>
          <a:xfrm>
            <a:off x="777240" y="53492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350" dirty="0">
                <a:solidFill>
                  <a:srgbClr val="667085"/>
                </a:solidFill>
                <a:latin typeface="Aptos"/>
                <a:cs typeface="Aptos"/>
              </a:rPr>
              <a:t>A LLM gera código, mas a fonte de verdade sobre rotas, elementos e seletores é o contexto extraído da aplicação.</a:t>
            </a:r>
            <a:endParaRPr lang="pt-BR" sz="1350" dirty="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11</a:t>
            </a:r>
            <a:endParaRPr lang="pt-BR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Arquitetura da Solução</a:t>
            </a:r>
            <a:endParaRPr lang="pt-BR" sz="2450"/>
          </a:p>
        </p:txBody>
      </p:sp>
      <p:sp>
        <p:nvSpPr>
          <p:cNvPr id="10" name="Rectangle"/>
          <p:cNvSpPr/>
          <p:nvPr/>
        </p:nvSpPr>
        <p:spPr>
          <a:xfrm>
            <a:off x="594360" y="1952625"/>
            <a:ext cx="2651760" cy="1828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Rectangle"/>
          <p:cNvSpPr/>
          <p:nvPr/>
        </p:nvSpPr>
        <p:spPr>
          <a:xfrm>
            <a:off x="594360" y="1952625"/>
            <a:ext cx="73152" cy="1828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Box"/>
          <p:cNvSpPr txBox="1"/>
          <p:nvPr/>
        </p:nvSpPr>
        <p:spPr>
          <a:xfrm>
            <a:off x="704088" y="2044065"/>
            <a:ext cx="2450591" cy="166420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>
                <a:solidFill>
                  <a:srgbClr val="0F766E"/>
                </a:solidFill>
                <a:latin typeface="Aptos"/>
                <a:cs typeface="Aptos"/>
              </a:rPr>
              <a:t>Crawler</a:t>
            </a:r>
            <a:endParaRPr lang="pt-BR" sz="150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Exploração via Crawljax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Coleta de páginas, textos, elementos e transições</a:t>
            </a:r>
            <a:endParaRPr lang="pt-BR" sz="1120"/>
          </a:p>
        </p:txBody>
      </p:sp>
      <p:sp>
        <p:nvSpPr>
          <p:cNvPr id="20" name="Rectangle"/>
          <p:cNvSpPr/>
          <p:nvPr/>
        </p:nvSpPr>
        <p:spPr>
          <a:xfrm>
            <a:off x="4658123" y="1952625"/>
            <a:ext cx="2651760" cy="1828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Rectangle"/>
          <p:cNvSpPr/>
          <p:nvPr/>
        </p:nvSpPr>
        <p:spPr>
          <a:xfrm>
            <a:off x="4658123" y="1952625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Box"/>
          <p:cNvSpPr txBox="1"/>
          <p:nvPr/>
        </p:nvSpPr>
        <p:spPr>
          <a:xfrm>
            <a:off x="4767851" y="2044065"/>
            <a:ext cx="2450591" cy="166420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 dirty="0">
                <a:solidFill>
                  <a:srgbClr val="2563EB"/>
                </a:solidFill>
                <a:latin typeface="Aptos"/>
                <a:cs typeface="Aptos"/>
              </a:rPr>
              <a:t>Grafo</a:t>
            </a:r>
            <a:endParaRPr lang="pt-BR" sz="150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Persistência no Neo4j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PageState e NAVIGATES_TO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Base auditável</a:t>
            </a:r>
            <a:endParaRPr lang="pt-BR" sz="1120" dirty="0"/>
          </a:p>
        </p:txBody>
      </p:sp>
      <p:sp>
        <p:nvSpPr>
          <p:cNvPr id="30" name="Rectangle"/>
          <p:cNvSpPr/>
          <p:nvPr/>
        </p:nvSpPr>
        <p:spPr>
          <a:xfrm>
            <a:off x="8412480" y="1952625"/>
            <a:ext cx="2651760" cy="1828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" name="Rectangle"/>
          <p:cNvSpPr/>
          <p:nvPr/>
        </p:nvSpPr>
        <p:spPr>
          <a:xfrm>
            <a:off x="8412480" y="1952625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Box"/>
          <p:cNvSpPr txBox="1"/>
          <p:nvPr/>
        </p:nvSpPr>
        <p:spPr>
          <a:xfrm>
            <a:off x="8522208" y="2044065"/>
            <a:ext cx="2450591" cy="166420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 dirty="0">
                <a:solidFill>
                  <a:srgbClr val="F59E0B"/>
                </a:solidFill>
                <a:latin typeface="Aptos"/>
                <a:cs typeface="Aptos"/>
              </a:rPr>
              <a:t>Gerador de prompt</a:t>
            </a:r>
            <a:endParaRPr lang="pt-BR" sz="150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Normalização textual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Seleção de evidências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Prompt estruturado</a:t>
            </a:r>
            <a:endParaRPr lang="pt-BR" sz="1120" dirty="0"/>
          </a:p>
        </p:txBody>
      </p:sp>
      <p:cxnSp>
        <p:nvCxnSpPr>
          <p:cNvPr id="70" name="Line"/>
          <p:cNvCxnSpPr>
            <a:cxnSpLocks/>
            <a:endCxn id="21" idx="1"/>
          </p:cNvCxnSpPr>
          <p:nvPr/>
        </p:nvCxnSpPr>
        <p:spPr>
          <a:xfrm>
            <a:off x="3246120" y="2867025"/>
            <a:ext cx="1412003" cy="0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cxnSp>
        <p:nvCxnSpPr>
          <p:cNvPr id="71" name="Line"/>
          <p:cNvCxnSpPr>
            <a:cxnSpLocks/>
            <a:stCxn id="20" idx="3"/>
            <a:endCxn id="31" idx="1"/>
          </p:cNvCxnSpPr>
          <p:nvPr/>
        </p:nvCxnSpPr>
        <p:spPr>
          <a:xfrm>
            <a:off x="7309883" y="2867025"/>
            <a:ext cx="1102597" cy="0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80" name="Text Box"/>
          <p:cNvSpPr txBox="1"/>
          <p:nvPr/>
        </p:nvSpPr>
        <p:spPr>
          <a:xfrm>
            <a:off x="1097280" y="4558664"/>
            <a:ext cx="9966960" cy="132588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40000" tIns="140000" rIns="140000" bIns="140000" anchor="t"/>
          <a:lstStyle/>
          <a:p>
            <a:pPr marL="0" indent="0" algn="ctr"/>
            <a:r>
              <a:rPr lang="pt-BR" sz="1550" b="1" dirty="0">
                <a:solidFill>
                  <a:srgbClr val="0F766E"/>
                </a:solidFill>
                <a:latin typeface="Aptos"/>
                <a:cs typeface="Aptos"/>
              </a:rPr>
              <a:t>Decisão de escopo</a:t>
            </a:r>
            <a:endParaRPr lang="pt-BR" sz="1550" dirty="0"/>
          </a:p>
          <a:p>
            <a:pPr marL="0" indent="0" algn="ctr"/>
            <a:r>
              <a:rPr lang="pt-BR" sz="1500" dirty="0">
                <a:solidFill>
                  <a:srgbClr val="1F2937"/>
                </a:solidFill>
                <a:latin typeface="Aptos"/>
                <a:cs typeface="Aptos"/>
              </a:rPr>
              <a:t>A contribuição central é o prompt semântico, auditável e fundamentado no grafo. A geração totalmente autônoma de testes fica como sugestão para trabalhos futuros.</a:t>
            </a:r>
            <a:endParaRPr lang="pt-BR" sz="1500" dirty="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12</a:t>
            </a:r>
            <a:endParaRPr lang="pt-BR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 dirty="0">
                <a:solidFill>
                  <a:srgbClr val="0F766E"/>
                </a:solidFill>
                <a:latin typeface="Aptos"/>
                <a:cs typeface="Aptos"/>
              </a:rPr>
              <a:t>Grafo Navegacional Como Fonte De Verdade</a:t>
            </a:r>
            <a:endParaRPr lang="pt-BR" sz="2450" dirty="0"/>
          </a:p>
        </p:txBody>
      </p:sp>
      <p:sp>
        <p:nvSpPr>
          <p:cNvPr id="10" name="Rectangle"/>
          <p:cNvSpPr/>
          <p:nvPr/>
        </p:nvSpPr>
        <p:spPr>
          <a:xfrm>
            <a:off x="1476375" y="2919095"/>
            <a:ext cx="1933575" cy="395605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Box"/>
          <p:cNvSpPr txBox="1"/>
          <p:nvPr/>
        </p:nvSpPr>
        <p:spPr>
          <a:xfrm>
            <a:off x="1558290" y="2919095"/>
            <a:ext cx="1737360" cy="2031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endParaRPr lang="pt-BR" sz="2600" dirty="0"/>
          </a:p>
        </p:txBody>
      </p:sp>
      <p:sp>
        <p:nvSpPr>
          <p:cNvPr id="12" name="Text Box"/>
          <p:cNvSpPr txBox="1"/>
          <p:nvPr/>
        </p:nvSpPr>
        <p:spPr>
          <a:xfrm>
            <a:off x="1558290" y="3055410"/>
            <a:ext cx="1737360" cy="1336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dirty="0">
                <a:solidFill>
                  <a:srgbClr val="667085"/>
                </a:solidFill>
                <a:latin typeface="Aptos"/>
                <a:cs typeface="Aptos"/>
              </a:rPr>
              <a:t>Aplicação explorada</a:t>
            </a:r>
            <a:endParaRPr lang="pt-BR" sz="1050" dirty="0"/>
          </a:p>
        </p:txBody>
      </p:sp>
      <p:sp>
        <p:nvSpPr>
          <p:cNvPr id="15" name="Rectangle"/>
          <p:cNvSpPr/>
          <p:nvPr/>
        </p:nvSpPr>
        <p:spPr>
          <a:xfrm>
            <a:off x="4165758" y="2390184"/>
            <a:ext cx="2971800" cy="1067392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Box"/>
          <p:cNvSpPr txBox="1"/>
          <p:nvPr/>
        </p:nvSpPr>
        <p:spPr>
          <a:xfrm>
            <a:off x="4352924" y="2526855"/>
            <a:ext cx="2599531" cy="8640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1050" dirty="0">
                <a:solidFill>
                  <a:srgbClr val="667085"/>
                </a:solidFill>
                <a:latin typeface="Aptos"/>
                <a:cs typeface="Aptos"/>
              </a:rPr>
              <a:t>Nós: PageState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URL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Título / h1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Texto visível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Elementos interativos</a:t>
            </a:r>
            <a:endParaRPr lang="pt-BR" sz="1050" dirty="0"/>
          </a:p>
        </p:txBody>
      </p:sp>
      <p:sp>
        <p:nvSpPr>
          <p:cNvPr id="50" name="Text Box"/>
          <p:cNvSpPr txBox="1"/>
          <p:nvPr/>
        </p:nvSpPr>
        <p:spPr>
          <a:xfrm>
            <a:off x="7564755" y="3222952"/>
            <a:ext cx="5166360" cy="1557381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50000" tIns="150000" rIns="150000" bIns="150000" anchor="t"/>
          <a:lstStyle/>
          <a:p>
            <a:pPr marL="0" indent="0" algn="l"/>
            <a:r>
              <a:rPr lang="pt-BR" sz="1500" b="1" dirty="0">
                <a:solidFill>
                  <a:srgbClr val="F59E0B"/>
                </a:solidFill>
                <a:latin typeface="Aptos"/>
                <a:cs typeface="Aptos"/>
              </a:rPr>
              <a:t>Por que isso importa</a:t>
            </a:r>
            <a:endParaRPr lang="pt-BR" sz="1500" dirty="0"/>
          </a:p>
          <a:p>
            <a:pPr marL="360000" indent="-220000" algn="l">
              <a:buChar char="•"/>
            </a:pPr>
            <a:r>
              <a:rPr lang="pt-BR" sz="1300" dirty="0">
                <a:solidFill>
                  <a:srgbClr val="1F2937"/>
                </a:solidFill>
                <a:latin typeface="Aptos"/>
                <a:cs typeface="Aptos"/>
              </a:rPr>
              <a:t>Permite relacionar a especificação com evidências reais da interface.</a:t>
            </a:r>
            <a:endParaRPr lang="pt-BR" sz="1300" dirty="0"/>
          </a:p>
          <a:p>
            <a:pPr marL="360000" indent="-220000" algn="l">
              <a:buChar char="•"/>
            </a:pPr>
            <a:r>
              <a:rPr lang="pt-BR" sz="1300" dirty="0">
                <a:solidFill>
                  <a:srgbClr val="1F2937"/>
                </a:solidFill>
                <a:latin typeface="Aptos"/>
                <a:cs typeface="Aptos"/>
              </a:rPr>
              <a:t>Reduz dependência do conhecimento genérico da LLM</a:t>
            </a:r>
            <a:endParaRPr lang="pt-BR" sz="1300" dirty="0"/>
          </a:p>
          <a:p>
            <a:pPr marL="360000" indent="-220000" algn="l">
              <a:buChar char="•"/>
            </a:pPr>
            <a:r>
              <a:rPr lang="pt-BR" sz="1300" dirty="0">
                <a:solidFill>
                  <a:srgbClr val="1F2937"/>
                </a:solidFill>
                <a:latin typeface="Aptos"/>
                <a:cs typeface="Aptos"/>
              </a:rPr>
              <a:t>Explicita lacunas quando o crawler não descobriu um fluxo</a:t>
            </a:r>
            <a:endParaRPr lang="pt-BR" sz="1300" dirty="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13</a:t>
            </a:r>
            <a:endParaRPr lang="pt-BR" sz="90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D52046-0ADA-F29C-35C3-F19C1360A9B4}"/>
              </a:ext>
            </a:extLst>
          </p:cNvPr>
          <p:cNvSpPr/>
          <p:nvPr/>
        </p:nvSpPr>
        <p:spPr>
          <a:xfrm>
            <a:off x="1476375" y="3606038"/>
            <a:ext cx="1933575" cy="395605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Box">
            <a:extLst>
              <a:ext uri="{FF2B5EF4-FFF2-40B4-BE49-F238E27FC236}">
                <a16:creationId xmlns:a16="http://schemas.microsoft.com/office/drawing/2014/main" id="{6B10AEC5-E0C1-5280-7910-E63C6CB65161}"/>
              </a:ext>
            </a:extLst>
          </p:cNvPr>
          <p:cNvSpPr txBox="1"/>
          <p:nvPr/>
        </p:nvSpPr>
        <p:spPr>
          <a:xfrm>
            <a:off x="1558290" y="3737018"/>
            <a:ext cx="1737360" cy="1336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dirty="0">
                <a:solidFill>
                  <a:srgbClr val="667085"/>
                </a:solidFill>
                <a:latin typeface="Aptos"/>
                <a:cs typeface="Aptos"/>
              </a:rPr>
              <a:t>Páginas / Estados</a:t>
            </a:r>
            <a:endParaRPr lang="pt-BR" sz="1050" dirty="0"/>
          </a:p>
        </p:txBody>
      </p:sp>
      <p:sp>
        <p:nvSpPr>
          <p:cNvPr id="18" name="Rectangle">
            <a:extLst>
              <a:ext uri="{FF2B5EF4-FFF2-40B4-BE49-F238E27FC236}">
                <a16:creationId xmlns:a16="http://schemas.microsoft.com/office/drawing/2014/main" id="{DB0EE1A3-003B-C2C2-7594-B1A818536DB8}"/>
              </a:ext>
            </a:extLst>
          </p:cNvPr>
          <p:cNvSpPr/>
          <p:nvPr/>
        </p:nvSpPr>
        <p:spPr>
          <a:xfrm>
            <a:off x="1476375" y="4313598"/>
            <a:ext cx="1933575" cy="395605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Text Box">
            <a:extLst>
              <a:ext uri="{FF2B5EF4-FFF2-40B4-BE49-F238E27FC236}">
                <a16:creationId xmlns:a16="http://schemas.microsoft.com/office/drawing/2014/main" id="{06E26B6E-F160-AAC4-7323-2868EB29020B}"/>
              </a:ext>
            </a:extLst>
          </p:cNvPr>
          <p:cNvSpPr txBox="1"/>
          <p:nvPr/>
        </p:nvSpPr>
        <p:spPr>
          <a:xfrm>
            <a:off x="1558290" y="4444578"/>
            <a:ext cx="1737360" cy="1336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dirty="0">
                <a:solidFill>
                  <a:srgbClr val="667085"/>
                </a:solidFill>
                <a:latin typeface="Aptos"/>
                <a:cs typeface="Aptos"/>
              </a:rPr>
              <a:t>Transições</a:t>
            </a:r>
            <a:endParaRPr lang="pt-BR" sz="1050" dirty="0"/>
          </a:p>
        </p:txBody>
      </p:sp>
      <p:sp>
        <p:nvSpPr>
          <p:cNvPr id="25" name="Rectangle">
            <a:extLst>
              <a:ext uri="{FF2B5EF4-FFF2-40B4-BE49-F238E27FC236}">
                <a16:creationId xmlns:a16="http://schemas.microsoft.com/office/drawing/2014/main" id="{9DB10A8E-72E7-3C7F-87AF-296F4D32618D}"/>
              </a:ext>
            </a:extLst>
          </p:cNvPr>
          <p:cNvSpPr/>
          <p:nvPr/>
        </p:nvSpPr>
        <p:spPr>
          <a:xfrm>
            <a:off x="1476375" y="5013326"/>
            <a:ext cx="1933575" cy="395605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FF13CC7E-4437-DAA6-AB5C-A7C3C6F965B0}"/>
              </a:ext>
            </a:extLst>
          </p:cNvPr>
          <p:cNvSpPr txBox="1"/>
          <p:nvPr/>
        </p:nvSpPr>
        <p:spPr>
          <a:xfrm>
            <a:off x="1574482" y="5144306"/>
            <a:ext cx="1737360" cy="1336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50" dirty="0">
                <a:solidFill>
                  <a:srgbClr val="667085"/>
                </a:solidFill>
                <a:latin typeface="Aptos"/>
                <a:cs typeface="Aptos"/>
              </a:rPr>
              <a:t>Textos, elementos e seletores</a:t>
            </a:r>
            <a:endParaRPr lang="pt-BR" sz="105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EDFB26-C78B-FEDE-B605-510274B4862E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2443163" y="3314700"/>
            <a:ext cx="0" cy="291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79F4928-DE66-18E1-227C-1C6EC0BB4CB3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>
            <a:off x="2443163" y="4001643"/>
            <a:ext cx="0" cy="311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456BC38-68CB-BC05-7404-2AE0580DD657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>
            <a:off x="2443163" y="4709203"/>
            <a:ext cx="0" cy="304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">
            <a:extLst>
              <a:ext uri="{FF2B5EF4-FFF2-40B4-BE49-F238E27FC236}">
                <a16:creationId xmlns:a16="http://schemas.microsoft.com/office/drawing/2014/main" id="{90431370-F109-4C0B-ED0A-7881117176FE}"/>
              </a:ext>
            </a:extLst>
          </p:cNvPr>
          <p:cNvSpPr/>
          <p:nvPr/>
        </p:nvSpPr>
        <p:spPr>
          <a:xfrm>
            <a:off x="4121466" y="3670343"/>
            <a:ext cx="2971800" cy="1067392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Box">
            <a:extLst>
              <a:ext uri="{FF2B5EF4-FFF2-40B4-BE49-F238E27FC236}">
                <a16:creationId xmlns:a16="http://schemas.microsoft.com/office/drawing/2014/main" id="{D81C2859-FBC0-66B9-940E-6C72312A2357}"/>
              </a:ext>
            </a:extLst>
          </p:cNvPr>
          <p:cNvSpPr txBox="1"/>
          <p:nvPr/>
        </p:nvSpPr>
        <p:spPr>
          <a:xfrm>
            <a:off x="4308632" y="3807014"/>
            <a:ext cx="2599531" cy="8640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1050" dirty="0">
                <a:solidFill>
                  <a:srgbClr val="667085"/>
                </a:solidFill>
                <a:latin typeface="Aptos"/>
                <a:cs typeface="Aptos"/>
              </a:rPr>
              <a:t>Arestas: NAVIGATES_TO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Origem e destino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Ação observada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Elemento acionador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Tipo de interação</a:t>
            </a:r>
            <a:endParaRPr lang="pt-BR" sz="1050" dirty="0"/>
          </a:p>
        </p:txBody>
      </p:sp>
      <p:sp>
        <p:nvSpPr>
          <p:cNvPr id="46" name="Rectangle">
            <a:extLst>
              <a:ext uri="{FF2B5EF4-FFF2-40B4-BE49-F238E27FC236}">
                <a16:creationId xmlns:a16="http://schemas.microsoft.com/office/drawing/2014/main" id="{2F6764BC-B4B0-4704-5AEC-7573776671CC}"/>
              </a:ext>
            </a:extLst>
          </p:cNvPr>
          <p:cNvSpPr/>
          <p:nvPr/>
        </p:nvSpPr>
        <p:spPr>
          <a:xfrm>
            <a:off x="4121466" y="4950165"/>
            <a:ext cx="2971800" cy="1067392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Box">
            <a:extLst>
              <a:ext uri="{FF2B5EF4-FFF2-40B4-BE49-F238E27FC236}">
                <a16:creationId xmlns:a16="http://schemas.microsoft.com/office/drawing/2014/main" id="{52FB2443-24AC-1B5B-0EF0-65A1A88D92A1}"/>
              </a:ext>
            </a:extLst>
          </p:cNvPr>
          <p:cNvSpPr txBox="1"/>
          <p:nvPr/>
        </p:nvSpPr>
        <p:spPr>
          <a:xfrm>
            <a:off x="4308632" y="5086836"/>
            <a:ext cx="2599531" cy="8640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1050" dirty="0">
                <a:solidFill>
                  <a:srgbClr val="667085"/>
                </a:solidFill>
                <a:latin typeface="Aptos"/>
                <a:cs typeface="Aptos"/>
              </a:rPr>
              <a:t>Metadados Semânticos: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Texto do elemento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Role / aria-label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50" dirty="0">
                <a:solidFill>
                  <a:srgbClr val="667085"/>
                </a:solidFill>
                <a:latin typeface="Aptos"/>
              </a:rPr>
              <a:t>Href / name / id / classes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 dirty="0">
                <a:solidFill>
                  <a:srgbClr val="0F766E"/>
                </a:solidFill>
                <a:latin typeface="Aptos"/>
                <a:cs typeface="Aptos"/>
              </a:rPr>
              <a:t>Cobertura da especificação</a:t>
            </a:r>
            <a:endParaRPr lang="pt-BR" sz="2450" dirty="0"/>
          </a:p>
        </p:txBody>
      </p:sp>
      <p:sp>
        <p:nvSpPr>
          <p:cNvPr id="10" name="Text Box"/>
          <p:cNvSpPr txBox="1"/>
          <p:nvPr/>
        </p:nvSpPr>
        <p:spPr>
          <a:xfrm>
            <a:off x="777240" y="1904047"/>
            <a:ext cx="10835640" cy="3691255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20000" tIns="120000" rIns="120000" bIns="120000" anchor="t"/>
          <a:lstStyle/>
          <a:p>
            <a:r>
              <a:rPr lang="pt-BR" sz="1600" dirty="0"/>
              <a:t>Antes de pedir à LLM para gerar o teste, o sistema verifica se a especificação em linguagem natural possui evidências suficientes no grafo navegacional.</a:t>
            </a:r>
          </a:p>
          <a:p>
            <a:endParaRPr lang="pt-BR" sz="1600" dirty="0"/>
          </a:p>
          <a:p>
            <a:r>
              <a:rPr lang="pt-BR" sz="1600" dirty="0"/>
              <a:t>Essa camada funciona da seguinte forma: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Quebra a especificação em requisitos menores;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Identifica os elementos principais do requisito: ação esperada, objeto, página de destino, resultado a validar e dados mencionados;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Busca evidências em páginas, transições e caminhos candidatos;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Classifica cada requisito como </a:t>
            </a:r>
            <a:r>
              <a:rPr lang="pt-BR" sz="1600" b="1" dirty="0"/>
              <a:t>supported</a:t>
            </a:r>
            <a:r>
              <a:rPr lang="pt-BR" sz="1600" dirty="0"/>
              <a:t>, </a:t>
            </a:r>
            <a:r>
              <a:rPr lang="pt-BR" sz="1600" b="1" dirty="0"/>
              <a:t>partial</a:t>
            </a:r>
            <a:r>
              <a:rPr lang="pt-BR" sz="1600" dirty="0"/>
              <a:t> ou </a:t>
            </a:r>
            <a:r>
              <a:rPr lang="pt-BR" sz="1600" b="1" dirty="0"/>
              <a:t>missing</a:t>
            </a:r>
            <a:r>
              <a:rPr lang="pt-BR" sz="1600" dirty="0"/>
              <a:t>;</a:t>
            </a:r>
          </a:p>
          <a:p>
            <a:endParaRPr lang="pt-BR" sz="1600" dirty="0"/>
          </a:p>
          <a:p>
            <a:r>
              <a:rPr lang="pt-BR" sz="1600" dirty="0"/>
              <a:t>A cobertura não mede se o teste passou; mede se há base no grafo para gerar o teste sem invenção.</a:t>
            </a:r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 dirty="0">
                <a:solidFill>
                  <a:srgbClr val="667085"/>
                </a:solidFill>
                <a:latin typeface="Aptos"/>
                <a:cs typeface="Aptos"/>
              </a:rPr>
              <a:t>14</a:t>
            </a:r>
            <a:endParaRPr lang="pt-BR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F46C-1587-A708-E644-D91C674A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>
            <a:extLst>
              <a:ext uri="{FF2B5EF4-FFF2-40B4-BE49-F238E27FC236}">
                <a16:creationId xmlns:a16="http://schemas.microsoft.com/office/drawing/2014/main" id="{4A4F48C7-6F1E-38D3-A494-AEC34BCA6E78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0070E558-DF7F-A88E-01F9-76123BE4EB8D}"/>
              </a:ext>
            </a:extLst>
          </p:cNvPr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 dirty="0">
                <a:solidFill>
                  <a:srgbClr val="0F766E"/>
                </a:solidFill>
                <a:latin typeface="Aptos"/>
                <a:cs typeface="Aptos"/>
              </a:rPr>
              <a:t>Cobertura da especificação</a:t>
            </a:r>
            <a:endParaRPr lang="pt-BR" sz="2450" dirty="0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2CDE096-7363-6D85-03E6-B7389A2E01B6}"/>
              </a:ext>
            </a:extLst>
          </p:cNvPr>
          <p:cNvSpPr txBox="1"/>
          <p:nvPr/>
        </p:nvSpPr>
        <p:spPr>
          <a:xfrm>
            <a:off x="8275320" y="4114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1050" dirty="0">
                <a:solidFill>
                  <a:srgbClr val="667085"/>
                </a:solidFill>
                <a:latin typeface="Aptos"/>
                <a:cs typeface="Aptos"/>
              </a:rPr>
              <a:t>Exemplo: https://demowebshop.tricentis.com/</a:t>
            </a:r>
            <a:endParaRPr lang="pt-BR" sz="1050" dirty="0"/>
          </a:p>
        </p:txBody>
      </p:sp>
      <p:sp>
        <p:nvSpPr>
          <p:cNvPr id="10" name="Text Box">
            <a:extLst>
              <a:ext uri="{FF2B5EF4-FFF2-40B4-BE49-F238E27FC236}">
                <a16:creationId xmlns:a16="http://schemas.microsoft.com/office/drawing/2014/main" id="{70E361A4-7A7C-AD2F-BE20-B16B4C7ABEE5}"/>
              </a:ext>
            </a:extLst>
          </p:cNvPr>
          <p:cNvSpPr txBox="1"/>
          <p:nvPr/>
        </p:nvSpPr>
        <p:spPr>
          <a:xfrm>
            <a:off x="685800" y="1280159"/>
            <a:ext cx="10835640" cy="1154811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20000" tIns="120000" rIns="120000" bIns="120000" anchor="t"/>
          <a:lstStyle/>
          <a:p>
            <a:pPr algn="l"/>
            <a:r>
              <a:rPr lang="pt-BR" sz="1500" dirty="0">
                <a:solidFill>
                  <a:srgbClr val="1F2937"/>
                </a:solidFill>
                <a:latin typeface="Aptos"/>
                <a:cs typeface="Aptos"/>
              </a:rPr>
              <a:t>Classificação se da por meio de uma métrica chamada </a:t>
            </a:r>
            <a:r>
              <a:rPr lang="pt-BR" sz="1500" b="1" dirty="0">
                <a:solidFill>
                  <a:srgbClr val="1F2937"/>
                </a:solidFill>
                <a:latin typeface="Aptos"/>
                <a:cs typeface="Aptos"/>
              </a:rPr>
              <a:t>fit_score</a:t>
            </a:r>
            <a:r>
              <a:rPr lang="pt-BR" sz="1500" dirty="0">
                <a:solidFill>
                  <a:srgbClr val="1F2937"/>
                </a:solidFill>
                <a:latin typeface="Aptos"/>
                <a:cs typeface="Aptos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F2937"/>
                </a:solidFill>
                <a:latin typeface="Aptos"/>
                <a:cs typeface="Aptos"/>
              </a:rPr>
              <a:t>fit_score &gt;= 0.85  → supported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F2937"/>
                </a:solidFill>
                <a:latin typeface="Aptos"/>
                <a:cs typeface="Aptos"/>
              </a:rPr>
              <a:t>fit_score &gt;= 0.45  → partial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F2937"/>
                </a:solidFill>
                <a:latin typeface="Aptos"/>
                <a:cs typeface="Aptos"/>
              </a:rPr>
              <a:t>fit_score &lt; 0.45   → missing</a:t>
            </a:r>
            <a:endParaRPr lang="pt-BR" sz="1500" dirty="0"/>
          </a:p>
        </p:txBody>
      </p:sp>
      <p:sp>
        <p:nvSpPr>
          <p:cNvPr id="30" name="Text Box">
            <a:extLst>
              <a:ext uri="{FF2B5EF4-FFF2-40B4-BE49-F238E27FC236}">
                <a16:creationId xmlns:a16="http://schemas.microsoft.com/office/drawing/2014/main" id="{FE501629-0410-3698-3047-6681F2066D55}"/>
              </a:ext>
            </a:extLst>
          </p:cNvPr>
          <p:cNvSpPr txBox="1"/>
          <p:nvPr/>
        </p:nvSpPr>
        <p:spPr>
          <a:xfrm>
            <a:off x="868680" y="3038475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900">
                <a:solidFill>
                  <a:srgbClr val="1F2937"/>
                </a:solidFill>
                <a:latin typeface="Aptos"/>
                <a:cs typeface="Aptos"/>
              </a:rPr>
              <a:t>fluxo_downloads_digitais</a:t>
            </a:r>
            <a:endParaRPr lang="pt-BR" sz="900"/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4D21C545-5CD1-B9E2-AF12-959072ED4479}"/>
              </a:ext>
            </a:extLst>
          </p:cNvPr>
          <p:cNvSpPr/>
          <p:nvPr/>
        </p:nvSpPr>
        <p:spPr>
          <a:xfrm>
            <a:off x="4480560" y="3056763"/>
            <a:ext cx="429768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Rectangle">
            <a:extLst>
              <a:ext uri="{FF2B5EF4-FFF2-40B4-BE49-F238E27FC236}">
                <a16:creationId xmlns:a16="http://schemas.microsoft.com/office/drawing/2014/main" id="{C3194746-6B96-C137-85D2-720861C8F33D}"/>
              </a:ext>
            </a:extLst>
          </p:cNvPr>
          <p:cNvSpPr/>
          <p:nvPr/>
        </p:nvSpPr>
        <p:spPr>
          <a:xfrm>
            <a:off x="4480560" y="3056763"/>
            <a:ext cx="3979651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Box">
            <a:extLst>
              <a:ext uri="{FF2B5EF4-FFF2-40B4-BE49-F238E27FC236}">
                <a16:creationId xmlns:a16="http://schemas.microsoft.com/office/drawing/2014/main" id="{A66C5268-5892-6AFA-1B9E-D928C0F44739}"/>
              </a:ext>
            </a:extLst>
          </p:cNvPr>
          <p:cNvSpPr txBox="1"/>
          <p:nvPr/>
        </p:nvSpPr>
        <p:spPr>
          <a:xfrm>
            <a:off x="9052560" y="3029331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 b="1">
                <a:solidFill>
                  <a:srgbClr val="16A34A"/>
                </a:solidFill>
                <a:latin typeface="Aptos"/>
                <a:cs typeface="Aptos"/>
              </a:rPr>
              <a:t>0.926</a:t>
            </a:r>
            <a:endParaRPr lang="pt-BR" sz="900"/>
          </a:p>
        </p:txBody>
      </p:sp>
      <p:sp>
        <p:nvSpPr>
          <p:cNvPr id="34" name="Text Box">
            <a:extLst>
              <a:ext uri="{FF2B5EF4-FFF2-40B4-BE49-F238E27FC236}">
                <a16:creationId xmlns:a16="http://schemas.microsoft.com/office/drawing/2014/main" id="{CD000C68-C391-E19C-E063-50FA3DBACDF8}"/>
              </a:ext>
            </a:extLst>
          </p:cNvPr>
          <p:cNvSpPr txBox="1"/>
          <p:nvPr/>
        </p:nvSpPr>
        <p:spPr>
          <a:xfrm>
            <a:off x="10195560" y="3029331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850">
                <a:solidFill>
                  <a:srgbClr val="667085"/>
                </a:solidFill>
                <a:latin typeface="Aptos"/>
                <a:cs typeface="Aptos"/>
              </a:rPr>
              <a:t>supported</a:t>
            </a:r>
            <a:endParaRPr lang="pt-BR" sz="850"/>
          </a:p>
        </p:txBody>
      </p:sp>
      <p:sp>
        <p:nvSpPr>
          <p:cNvPr id="35" name="Text Box">
            <a:extLst>
              <a:ext uri="{FF2B5EF4-FFF2-40B4-BE49-F238E27FC236}">
                <a16:creationId xmlns:a16="http://schemas.microsoft.com/office/drawing/2014/main" id="{D9F2B151-61D8-9A88-A7F5-F186027B5370}"/>
              </a:ext>
            </a:extLst>
          </p:cNvPr>
          <p:cNvSpPr txBox="1"/>
          <p:nvPr/>
        </p:nvSpPr>
        <p:spPr>
          <a:xfrm>
            <a:off x="868680" y="3660267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900">
                <a:solidFill>
                  <a:srgbClr val="1F2937"/>
                </a:solidFill>
                <a:latin typeface="Aptos"/>
                <a:cs typeface="Aptos"/>
              </a:rPr>
              <a:t>fluxo_contato</a:t>
            </a:r>
            <a:endParaRPr lang="pt-BR" sz="900"/>
          </a:p>
        </p:txBody>
      </p:sp>
      <p:sp>
        <p:nvSpPr>
          <p:cNvPr id="36" name="Rectangle">
            <a:extLst>
              <a:ext uri="{FF2B5EF4-FFF2-40B4-BE49-F238E27FC236}">
                <a16:creationId xmlns:a16="http://schemas.microsoft.com/office/drawing/2014/main" id="{70BAACC4-1F88-F29F-4BA3-98F9760D51D5}"/>
              </a:ext>
            </a:extLst>
          </p:cNvPr>
          <p:cNvSpPr/>
          <p:nvPr/>
        </p:nvSpPr>
        <p:spPr>
          <a:xfrm>
            <a:off x="4480560" y="3678555"/>
            <a:ext cx="429768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" name="Rectangle">
            <a:extLst>
              <a:ext uri="{FF2B5EF4-FFF2-40B4-BE49-F238E27FC236}">
                <a16:creationId xmlns:a16="http://schemas.microsoft.com/office/drawing/2014/main" id="{58F040E8-4CCF-5E5F-63AB-713DA3314BAE}"/>
              </a:ext>
            </a:extLst>
          </p:cNvPr>
          <p:cNvSpPr/>
          <p:nvPr/>
        </p:nvSpPr>
        <p:spPr>
          <a:xfrm>
            <a:off x="4480560" y="3678555"/>
            <a:ext cx="394527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Box">
            <a:extLst>
              <a:ext uri="{FF2B5EF4-FFF2-40B4-BE49-F238E27FC236}">
                <a16:creationId xmlns:a16="http://schemas.microsoft.com/office/drawing/2014/main" id="{4920F848-6C34-19EF-6949-457BE727AD4D}"/>
              </a:ext>
            </a:extLst>
          </p:cNvPr>
          <p:cNvSpPr txBox="1"/>
          <p:nvPr/>
        </p:nvSpPr>
        <p:spPr>
          <a:xfrm>
            <a:off x="9052560" y="3651123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 b="1">
                <a:solidFill>
                  <a:srgbClr val="16A34A"/>
                </a:solidFill>
                <a:latin typeface="Aptos"/>
                <a:cs typeface="Aptos"/>
              </a:rPr>
              <a:t>0.918</a:t>
            </a:r>
            <a:endParaRPr lang="pt-BR" sz="900"/>
          </a:p>
        </p:txBody>
      </p:sp>
      <p:sp>
        <p:nvSpPr>
          <p:cNvPr id="39" name="Text Box">
            <a:extLst>
              <a:ext uri="{FF2B5EF4-FFF2-40B4-BE49-F238E27FC236}">
                <a16:creationId xmlns:a16="http://schemas.microsoft.com/office/drawing/2014/main" id="{557E1F51-8DEF-D2AB-F339-8AA4CF3085E7}"/>
              </a:ext>
            </a:extLst>
          </p:cNvPr>
          <p:cNvSpPr txBox="1"/>
          <p:nvPr/>
        </p:nvSpPr>
        <p:spPr>
          <a:xfrm>
            <a:off x="10195560" y="3651123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850">
                <a:solidFill>
                  <a:srgbClr val="667085"/>
                </a:solidFill>
                <a:latin typeface="Aptos"/>
                <a:cs typeface="Aptos"/>
              </a:rPr>
              <a:t>supported</a:t>
            </a:r>
            <a:endParaRPr lang="pt-BR" sz="850"/>
          </a:p>
        </p:txBody>
      </p:sp>
      <p:sp>
        <p:nvSpPr>
          <p:cNvPr id="40" name="Text Box">
            <a:extLst>
              <a:ext uri="{FF2B5EF4-FFF2-40B4-BE49-F238E27FC236}">
                <a16:creationId xmlns:a16="http://schemas.microsoft.com/office/drawing/2014/main" id="{4996F38F-5876-93FD-27FC-3EFBEEC432FE}"/>
              </a:ext>
            </a:extLst>
          </p:cNvPr>
          <p:cNvSpPr txBox="1"/>
          <p:nvPr/>
        </p:nvSpPr>
        <p:spPr>
          <a:xfrm>
            <a:off x="868680" y="4282059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900">
                <a:solidFill>
                  <a:srgbClr val="1F2937"/>
                </a:solidFill>
                <a:latin typeface="Aptos"/>
                <a:cs typeface="Aptos"/>
              </a:rPr>
              <a:t>fluxo_computadores_desktops</a:t>
            </a:r>
            <a:endParaRPr lang="pt-BR" sz="900"/>
          </a:p>
        </p:txBody>
      </p:sp>
      <p:sp>
        <p:nvSpPr>
          <p:cNvPr id="41" name="Rectangle">
            <a:extLst>
              <a:ext uri="{FF2B5EF4-FFF2-40B4-BE49-F238E27FC236}">
                <a16:creationId xmlns:a16="http://schemas.microsoft.com/office/drawing/2014/main" id="{02383C85-9F49-37C7-738C-73B33D1FB7FA}"/>
              </a:ext>
            </a:extLst>
          </p:cNvPr>
          <p:cNvSpPr/>
          <p:nvPr/>
        </p:nvSpPr>
        <p:spPr>
          <a:xfrm>
            <a:off x="4480560" y="4300347"/>
            <a:ext cx="429768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" name="Rectangle">
            <a:extLst>
              <a:ext uri="{FF2B5EF4-FFF2-40B4-BE49-F238E27FC236}">
                <a16:creationId xmlns:a16="http://schemas.microsoft.com/office/drawing/2014/main" id="{7B55279A-227D-8C00-78B9-B6A113EFECF5}"/>
              </a:ext>
            </a:extLst>
          </p:cNvPr>
          <p:cNvSpPr/>
          <p:nvPr/>
        </p:nvSpPr>
        <p:spPr>
          <a:xfrm>
            <a:off x="4480560" y="4300347"/>
            <a:ext cx="1899574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Box">
            <a:extLst>
              <a:ext uri="{FF2B5EF4-FFF2-40B4-BE49-F238E27FC236}">
                <a16:creationId xmlns:a16="http://schemas.microsoft.com/office/drawing/2014/main" id="{CAECF1CD-AE90-E8AC-F7D6-4797217DAA76}"/>
              </a:ext>
            </a:extLst>
          </p:cNvPr>
          <p:cNvSpPr txBox="1"/>
          <p:nvPr/>
        </p:nvSpPr>
        <p:spPr>
          <a:xfrm>
            <a:off x="9052560" y="4272915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 b="1">
                <a:solidFill>
                  <a:srgbClr val="F59E0B"/>
                </a:solidFill>
                <a:latin typeface="Aptos"/>
                <a:cs typeface="Aptos"/>
              </a:rPr>
              <a:t>0.442</a:t>
            </a:r>
            <a:endParaRPr lang="pt-BR" sz="900"/>
          </a:p>
        </p:txBody>
      </p:sp>
      <p:sp>
        <p:nvSpPr>
          <p:cNvPr id="44" name="Text Box">
            <a:extLst>
              <a:ext uri="{FF2B5EF4-FFF2-40B4-BE49-F238E27FC236}">
                <a16:creationId xmlns:a16="http://schemas.microsoft.com/office/drawing/2014/main" id="{5197A553-1A56-EB86-6EF9-39B837AC6323}"/>
              </a:ext>
            </a:extLst>
          </p:cNvPr>
          <p:cNvSpPr txBox="1"/>
          <p:nvPr/>
        </p:nvSpPr>
        <p:spPr>
          <a:xfrm>
            <a:off x="10195560" y="4272915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850">
                <a:solidFill>
                  <a:srgbClr val="667085"/>
                </a:solidFill>
                <a:latin typeface="Aptos"/>
                <a:cs typeface="Aptos"/>
              </a:rPr>
              <a:t>partial</a:t>
            </a:r>
            <a:endParaRPr lang="pt-BR" sz="850"/>
          </a:p>
        </p:txBody>
      </p:sp>
      <p:sp>
        <p:nvSpPr>
          <p:cNvPr id="45" name="Text Box">
            <a:extLst>
              <a:ext uri="{FF2B5EF4-FFF2-40B4-BE49-F238E27FC236}">
                <a16:creationId xmlns:a16="http://schemas.microsoft.com/office/drawing/2014/main" id="{220061E7-370D-E7D3-21FA-272BE2454580}"/>
              </a:ext>
            </a:extLst>
          </p:cNvPr>
          <p:cNvSpPr txBox="1"/>
          <p:nvPr/>
        </p:nvSpPr>
        <p:spPr>
          <a:xfrm>
            <a:off x="868680" y="4903851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900">
                <a:solidFill>
                  <a:srgbClr val="1F2937"/>
                </a:solidFill>
                <a:latin typeface="Aptos"/>
                <a:cs typeface="Aptos"/>
              </a:rPr>
              <a:t>fluxo_cartao_presente_comparacao</a:t>
            </a:r>
            <a:endParaRPr lang="pt-BR" sz="900"/>
          </a:p>
        </p:txBody>
      </p:sp>
      <p:sp>
        <p:nvSpPr>
          <p:cNvPr id="46" name="Rectangle">
            <a:extLst>
              <a:ext uri="{FF2B5EF4-FFF2-40B4-BE49-F238E27FC236}">
                <a16:creationId xmlns:a16="http://schemas.microsoft.com/office/drawing/2014/main" id="{05619FB5-FD7B-E1AB-B9D0-F2EF256FD812}"/>
              </a:ext>
            </a:extLst>
          </p:cNvPr>
          <p:cNvSpPr/>
          <p:nvPr/>
        </p:nvSpPr>
        <p:spPr>
          <a:xfrm>
            <a:off x="4480560" y="4922138"/>
            <a:ext cx="429768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7" name="Rectangle">
            <a:extLst>
              <a:ext uri="{FF2B5EF4-FFF2-40B4-BE49-F238E27FC236}">
                <a16:creationId xmlns:a16="http://schemas.microsoft.com/office/drawing/2014/main" id="{51C4D708-7D07-3FC2-A398-D091C37B42A9}"/>
              </a:ext>
            </a:extLst>
          </p:cNvPr>
          <p:cNvSpPr/>
          <p:nvPr/>
        </p:nvSpPr>
        <p:spPr>
          <a:xfrm>
            <a:off x="4480560" y="4922138"/>
            <a:ext cx="1865193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Box">
            <a:extLst>
              <a:ext uri="{FF2B5EF4-FFF2-40B4-BE49-F238E27FC236}">
                <a16:creationId xmlns:a16="http://schemas.microsoft.com/office/drawing/2014/main" id="{DF06A2E0-9769-61F1-827F-5F7ED994551E}"/>
              </a:ext>
            </a:extLst>
          </p:cNvPr>
          <p:cNvSpPr txBox="1"/>
          <p:nvPr/>
        </p:nvSpPr>
        <p:spPr>
          <a:xfrm>
            <a:off x="9052560" y="4894707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 b="1">
                <a:solidFill>
                  <a:srgbClr val="F59E0B"/>
                </a:solidFill>
                <a:latin typeface="Aptos"/>
                <a:cs typeface="Aptos"/>
              </a:rPr>
              <a:t>0.434</a:t>
            </a:r>
            <a:endParaRPr lang="pt-BR" sz="900"/>
          </a:p>
        </p:txBody>
      </p:sp>
      <p:sp>
        <p:nvSpPr>
          <p:cNvPr id="49" name="Text Box">
            <a:extLst>
              <a:ext uri="{FF2B5EF4-FFF2-40B4-BE49-F238E27FC236}">
                <a16:creationId xmlns:a16="http://schemas.microsoft.com/office/drawing/2014/main" id="{C6FF54E5-EB4F-185D-321B-3FED26D9B05F}"/>
              </a:ext>
            </a:extLst>
          </p:cNvPr>
          <p:cNvSpPr txBox="1"/>
          <p:nvPr/>
        </p:nvSpPr>
        <p:spPr>
          <a:xfrm>
            <a:off x="10195560" y="4894707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850">
                <a:solidFill>
                  <a:srgbClr val="667085"/>
                </a:solidFill>
                <a:latin typeface="Aptos"/>
                <a:cs typeface="Aptos"/>
              </a:rPr>
              <a:t>partial</a:t>
            </a:r>
            <a:endParaRPr lang="pt-BR" sz="850"/>
          </a:p>
        </p:txBody>
      </p:sp>
      <p:sp>
        <p:nvSpPr>
          <p:cNvPr id="50" name="Text Box">
            <a:extLst>
              <a:ext uri="{FF2B5EF4-FFF2-40B4-BE49-F238E27FC236}">
                <a16:creationId xmlns:a16="http://schemas.microsoft.com/office/drawing/2014/main" id="{2DF9F7E9-FEC2-6BF6-BF45-D1294B37BB8F}"/>
              </a:ext>
            </a:extLst>
          </p:cNvPr>
          <p:cNvSpPr txBox="1"/>
          <p:nvPr/>
        </p:nvSpPr>
        <p:spPr>
          <a:xfrm>
            <a:off x="868680" y="5525643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900">
                <a:solidFill>
                  <a:srgbClr val="1F2937"/>
                </a:solidFill>
                <a:latin typeface="Aptos"/>
                <a:cs typeface="Aptos"/>
              </a:rPr>
              <a:t>user_registration_book_purchase</a:t>
            </a:r>
            <a:endParaRPr lang="pt-BR" sz="900"/>
          </a:p>
        </p:txBody>
      </p:sp>
      <p:sp>
        <p:nvSpPr>
          <p:cNvPr id="51" name="Rectangle">
            <a:extLst>
              <a:ext uri="{FF2B5EF4-FFF2-40B4-BE49-F238E27FC236}">
                <a16:creationId xmlns:a16="http://schemas.microsoft.com/office/drawing/2014/main" id="{499DF4F7-9AE3-2B6C-858E-190A17490534}"/>
              </a:ext>
            </a:extLst>
          </p:cNvPr>
          <p:cNvSpPr/>
          <p:nvPr/>
        </p:nvSpPr>
        <p:spPr>
          <a:xfrm>
            <a:off x="4480560" y="5543931"/>
            <a:ext cx="4297680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" name="Rectangle">
            <a:extLst>
              <a:ext uri="{FF2B5EF4-FFF2-40B4-BE49-F238E27FC236}">
                <a16:creationId xmlns:a16="http://schemas.microsoft.com/office/drawing/2014/main" id="{A6EB1353-C59D-B001-24C7-0FDBEA919869}"/>
              </a:ext>
            </a:extLst>
          </p:cNvPr>
          <p:cNvSpPr/>
          <p:nvPr/>
        </p:nvSpPr>
        <p:spPr>
          <a:xfrm>
            <a:off x="4480560" y="5543931"/>
            <a:ext cx="820856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Box">
            <a:extLst>
              <a:ext uri="{FF2B5EF4-FFF2-40B4-BE49-F238E27FC236}">
                <a16:creationId xmlns:a16="http://schemas.microsoft.com/office/drawing/2014/main" id="{1E3EB0B1-6F09-9761-690B-E238DA2142BA}"/>
              </a:ext>
            </a:extLst>
          </p:cNvPr>
          <p:cNvSpPr txBox="1"/>
          <p:nvPr/>
        </p:nvSpPr>
        <p:spPr>
          <a:xfrm>
            <a:off x="9052560" y="5516499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 b="1">
                <a:solidFill>
                  <a:srgbClr val="DC2626"/>
                </a:solidFill>
                <a:latin typeface="Aptos"/>
                <a:cs typeface="Aptos"/>
              </a:rPr>
              <a:t>0.191</a:t>
            </a:r>
            <a:endParaRPr lang="pt-BR" sz="900"/>
          </a:p>
        </p:txBody>
      </p:sp>
      <p:sp>
        <p:nvSpPr>
          <p:cNvPr id="54" name="Text Box">
            <a:extLst>
              <a:ext uri="{FF2B5EF4-FFF2-40B4-BE49-F238E27FC236}">
                <a16:creationId xmlns:a16="http://schemas.microsoft.com/office/drawing/2014/main" id="{467072F0-FFA6-8F44-788A-EEB75A5085DD}"/>
              </a:ext>
            </a:extLst>
          </p:cNvPr>
          <p:cNvSpPr txBox="1"/>
          <p:nvPr/>
        </p:nvSpPr>
        <p:spPr>
          <a:xfrm>
            <a:off x="10195560" y="5516499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850">
                <a:solidFill>
                  <a:srgbClr val="667085"/>
                </a:solidFill>
                <a:latin typeface="Aptos"/>
                <a:cs typeface="Aptos"/>
              </a:rPr>
              <a:t>low_coverage</a:t>
            </a:r>
            <a:endParaRPr lang="pt-BR" sz="850"/>
          </a:p>
        </p:txBody>
      </p:sp>
      <p:sp>
        <p:nvSpPr>
          <p:cNvPr id="900" name="Slide Number">
            <a:extLst>
              <a:ext uri="{FF2B5EF4-FFF2-40B4-BE49-F238E27FC236}">
                <a16:creationId xmlns:a16="http://schemas.microsoft.com/office/drawing/2014/main" id="{0D34D498-451F-C414-2430-BCAEA890C211}"/>
              </a:ext>
            </a:extLst>
          </p:cNvPr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15</a:t>
            </a:r>
            <a:endParaRPr lang="pt-BR" sz="900"/>
          </a:p>
        </p:txBody>
      </p:sp>
    </p:spTree>
    <p:extLst>
      <p:ext uri="{BB962C8B-B14F-4D97-AF65-F5344CB8AC3E}">
        <p14:creationId xmlns:p14="http://schemas.microsoft.com/office/powerpoint/2010/main" val="3818501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Prompt Semântico</a:t>
            </a:r>
            <a:endParaRPr lang="pt-BR" sz="24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 dirty="0">
                <a:solidFill>
                  <a:srgbClr val="667085"/>
                </a:solidFill>
                <a:latin typeface="Aptos"/>
                <a:cs typeface="Aptos"/>
              </a:rPr>
              <a:t>16</a:t>
            </a:r>
            <a:endParaRPr lang="pt-BR" sz="900" dirty="0"/>
          </a:p>
        </p:txBody>
      </p:sp>
      <p:graphicFrame>
        <p:nvGraphicFramePr>
          <p:cNvPr id="902" name="Bullets">
            <a:extLst>
              <a:ext uri="{FF2B5EF4-FFF2-40B4-BE49-F238E27FC236}">
                <a16:creationId xmlns:a16="http://schemas.microsoft.com/office/drawing/2014/main" id="{0D806285-4CC7-94F5-2A19-464CFDAD3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0801664"/>
              </p:ext>
            </p:extLst>
          </p:nvPr>
        </p:nvGraphicFramePr>
        <p:xfrm>
          <a:off x="685800" y="1261871"/>
          <a:ext cx="10698480" cy="3910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 Box">
            <a:extLst>
              <a:ext uri="{FF2B5EF4-FFF2-40B4-BE49-F238E27FC236}">
                <a16:creationId xmlns:a16="http://schemas.microsoft.com/office/drawing/2014/main" id="{52EF2B5F-49C1-A9C8-A183-2E6032DE60C1}"/>
              </a:ext>
            </a:extLst>
          </p:cNvPr>
          <p:cNvSpPr txBox="1"/>
          <p:nvPr/>
        </p:nvSpPr>
        <p:spPr>
          <a:xfrm>
            <a:off x="777240" y="53492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350" dirty="0">
                <a:solidFill>
                  <a:srgbClr val="667085"/>
                </a:solidFill>
                <a:latin typeface="Aptos"/>
                <a:cs typeface="Aptos"/>
              </a:rPr>
              <a:t>O prompt organiza evidências para limitar e orientar a geração do teste E2E, reduzindo espaço para invenção.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Metodologia Experimental</a:t>
            </a:r>
            <a:endParaRPr lang="pt-BR" sz="2450"/>
          </a:p>
        </p:txBody>
      </p:sp>
      <p:sp>
        <p:nvSpPr>
          <p:cNvPr id="10" name="Rectangle"/>
          <p:cNvSpPr/>
          <p:nvPr/>
        </p:nvSpPr>
        <p:spPr>
          <a:xfrm>
            <a:off x="640080" y="1143000"/>
            <a:ext cx="5257800" cy="20574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Rectangle"/>
          <p:cNvSpPr/>
          <p:nvPr/>
        </p:nvSpPr>
        <p:spPr>
          <a:xfrm>
            <a:off x="640080" y="114300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Box"/>
          <p:cNvSpPr txBox="1"/>
          <p:nvPr/>
        </p:nvSpPr>
        <p:spPr>
          <a:xfrm>
            <a:off x="749808" y="1234440"/>
            <a:ext cx="5056632" cy="1892807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>
                <a:solidFill>
                  <a:srgbClr val="2563EB"/>
                </a:solidFill>
                <a:latin typeface="Aptos"/>
                <a:cs typeface="Aptos"/>
              </a:rPr>
              <a:t>Baseline</a:t>
            </a:r>
            <a:endParaRPr lang="pt-BR" sz="150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Prompt com especificação em linguagem natural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Regras gerais de Playwright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Sem evidências estruturadas da aplicação</a:t>
            </a:r>
            <a:endParaRPr lang="pt-BR" sz="1120"/>
          </a:p>
        </p:txBody>
      </p:sp>
      <p:sp>
        <p:nvSpPr>
          <p:cNvPr id="20" name="Rectangle"/>
          <p:cNvSpPr/>
          <p:nvPr/>
        </p:nvSpPr>
        <p:spPr>
          <a:xfrm>
            <a:off x="6263640" y="1143000"/>
            <a:ext cx="5257800" cy="20574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Rectangle"/>
          <p:cNvSpPr/>
          <p:nvPr/>
        </p:nvSpPr>
        <p:spPr>
          <a:xfrm>
            <a:off x="6263640" y="1143000"/>
            <a:ext cx="73152" cy="2057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Box"/>
          <p:cNvSpPr txBox="1"/>
          <p:nvPr/>
        </p:nvSpPr>
        <p:spPr>
          <a:xfrm>
            <a:off x="6373368" y="1234440"/>
            <a:ext cx="5056632" cy="1892807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>
                <a:solidFill>
                  <a:srgbClr val="0F766E"/>
                </a:solidFill>
                <a:latin typeface="Aptos"/>
                <a:cs typeface="Aptos"/>
              </a:rPr>
              <a:t>Proposta</a:t>
            </a:r>
            <a:endParaRPr lang="pt-BR" sz="150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Prompt com páginas, transições e caminhos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Seletores recomendados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Coverage da especificação e avisos de lacuna</a:t>
            </a:r>
            <a:endParaRPr lang="pt-BR" sz="1120"/>
          </a:p>
        </p:txBody>
      </p:sp>
      <p:cxnSp>
        <p:nvCxnSpPr>
          <p:cNvPr id="45" name="Line"/>
          <p:cNvCxnSpPr/>
          <p:nvPr/>
        </p:nvCxnSpPr>
        <p:spPr>
          <a:xfrm>
            <a:off x="5925312" y="2176272"/>
            <a:ext cx="274319" cy="0"/>
          </a:xfrm>
          <a:prstGeom prst="line">
            <a:avLst/>
          </a:prstGeom>
          <a:ln w="22000">
            <a:solidFill>
              <a:srgbClr val="D0D5DD"/>
            </a:solidFill>
            <a:tailEnd type="triangle"/>
          </a:ln>
        </p:spPr>
      </p:cxnSp>
      <p:sp>
        <p:nvSpPr>
          <p:cNvPr id="50" name="Text Box"/>
          <p:cNvSpPr txBox="1"/>
          <p:nvPr/>
        </p:nvSpPr>
        <p:spPr>
          <a:xfrm>
            <a:off x="868680" y="3977639"/>
            <a:ext cx="10332720" cy="118872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30000" tIns="130000" rIns="130000" bIns="130000" anchor="t"/>
          <a:lstStyle/>
          <a:p>
            <a:pPr marL="0" indent="0" algn="ctr"/>
            <a:r>
              <a:rPr lang="pt-BR" sz="1500" b="1">
                <a:solidFill>
                  <a:srgbClr val="F59E0B"/>
                </a:solidFill>
                <a:latin typeface="Aptos"/>
                <a:cs typeface="Aptos"/>
              </a:rPr>
              <a:t>Controle experimental</a:t>
            </a:r>
            <a:endParaRPr lang="pt-BR" sz="1500"/>
          </a:p>
          <a:p>
            <a:pPr marL="0" indent="0" algn="ctr"/>
            <a:r>
              <a:rPr lang="pt-BR" sz="1350">
                <a:solidFill>
                  <a:srgbClr val="1F2937"/>
                </a:solidFill>
                <a:latin typeface="Aptos"/>
                <a:cs typeface="Aptos"/>
              </a:rPr>
              <a:t>Para cada especificação, gerar testes com a mesma LLM e comparar executabilidade, aderência ao grafo, risco de seletores e avaliação humana.</a:t>
            </a:r>
            <a:endParaRPr lang="pt-BR" sz="13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17</a:t>
            </a:r>
            <a:endParaRPr lang="pt-BR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Base Experimental</a:t>
            </a:r>
            <a:endParaRPr lang="pt-BR" sz="2450"/>
          </a:p>
        </p:txBody>
      </p:sp>
      <p:sp>
        <p:nvSpPr>
          <p:cNvPr id="10" name="Bullets"/>
          <p:cNvSpPr txBox="1"/>
          <p:nvPr/>
        </p:nvSpPr>
        <p:spPr>
          <a:xfrm>
            <a:off x="685800" y="1261872"/>
            <a:ext cx="10698480" cy="480060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80000" tIns="180000" rIns="180000" bIns="180000" anchor="t"/>
          <a:lstStyle/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Aplicação alvo atual: Demo Web Shop.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Grafo explorado: 36 páginas/estados e 83 transições.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Cinco especificações representativas em linguagem natural.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Fluxos avaliados: contato, downloads digitais, computadores/desktops, cartão presente/comparação, registro e compra de livro.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Mesma LLM deve ser usada nas abordagens baseline e proposta.</a:t>
            </a:r>
            <a:endParaRPr lang="pt-BR" sz="18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18</a:t>
            </a:r>
            <a:endParaRPr lang="pt-BR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Métricas de Avaliação</a:t>
            </a:r>
            <a:endParaRPr lang="pt-BR" sz="2450"/>
          </a:p>
        </p:txBody>
      </p:sp>
      <p:sp>
        <p:nvSpPr>
          <p:cNvPr id="10" name="Rectangle"/>
          <p:cNvSpPr/>
          <p:nvPr/>
        </p:nvSpPr>
        <p:spPr>
          <a:xfrm>
            <a:off x="777240" y="2354580"/>
            <a:ext cx="3474720" cy="2284095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Rectangle"/>
          <p:cNvSpPr/>
          <p:nvPr/>
        </p:nvSpPr>
        <p:spPr>
          <a:xfrm>
            <a:off x="777240" y="2354580"/>
            <a:ext cx="73152" cy="228409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Box"/>
          <p:cNvSpPr txBox="1"/>
          <p:nvPr/>
        </p:nvSpPr>
        <p:spPr>
          <a:xfrm>
            <a:off x="886968" y="2446020"/>
            <a:ext cx="3273551" cy="2200189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 dirty="0">
                <a:solidFill>
                  <a:srgbClr val="0F766E"/>
                </a:solidFill>
                <a:latin typeface="Aptos"/>
                <a:cs typeface="Aptos"/>
              </a:rPr>
              <a:t>Qualidade técnica</a:t>
            </a:r>
            <a:endParaRPr lang="pt-BR" sz="150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Arquivo é executável?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it-IT" sz="1120" dirty="0">
                <a:solidFill>
                  <a:srgbClr val="1F2937"/>
                </a:solidFill>
                <a:latin typeface="Aptos"/>
                <a:cs typeface="Aptos"/>
              </a:rPr>
              <a:t>Possui test(...) e import correto?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Possui expect(...)?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Ações de usuário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Ausência de waitForTimeout</a:t>
            </a:r>
            <a:endParaRPr lang="pt-BR" sz="1120" dirty="0"/>
          </a:p>
        </p:txBody>
      </p:sp>
      <p:sp>
        <p:nvSpPr>
          <p:cNvPr id="25" name="Rectangle"/>
          <p:cNvSpPr/>
          <p:nvPr/>
        </p:nvSpPr>
        <p:spPr>
          <a:xfrm>
            <a:off x="4572000" y="2354580"/>
            <a:ext cx="3474720" cy="2291629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" name="Rectangle"/>
          <p:cNvSpPr/>
          <p:nvPr/>
        </p:nvSpPr>
        <p:spPr>
          <a:xfrm>
            <a:off x="4572000" y="2354580"/>
            <a:ext cx="73152" cy="229162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Box"/>
          <p:cNvSpPr txBox="1"/>
          <p:nvPr/>
        </p:nvSpPr>
        <p:spPr>
          <a:xfrm>
            <a:off x="4681728" y="2446020"/>
            <a:ext cx="3273551" cy="2207447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 dirty="0">
                <a:solidFill>
                  <a:srgbClr val="2563EB"/>
                </a:solidFill>
                <a:latin typeface="Aptos"/>
                <a:cs typeface="Aptos"/>
              </a:rPr>
              <a:t>Conformidade</a:t>
            </a:r>
            <a:endParaRPr lang="pt-BR" sz="150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URLs usadas existem no grafo?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Textos usados para localizar elementos aparecem no grafo?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Seletores são compatíveis com evidências coletadas?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Há rotas, textos ou elementos possivelmente inventados?</a:t>
            </a:r>
            <a:endParaRPr lang="pt-BR" sz="1120" dirty="0"/>
          </a:p>
        </p:txBody>
      </p:sp>
      <p:sp>
        <p:nvSpPr>
          <p:cNvPr id="40" name="Rectangle"/>
          <p:cNvSpPr/>
          <p:nvPr/>
        </p:nvSpPr>
        <p:spPr>
          <a:xfrm>
            <a:off x="8366760" y="2354580"/>
            <a:ext cx="3291840" cy="2298887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1" name="Rectangle"/>
          <p:cNvSpPr/>
          <p:nvPr/>
        </p:nvSpPr>
        <p:spPr>
          <a:xfrm>
            <a:off x="8366760" y="2354580"/>
            <a:ext cx="73152" cy="229888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Box"/>
          <p:cNvSpPr txBox="1"/>
          <p:nvPr/>
        </p:nvSpPr>
        <p:spPr>
          <a:xfrm>
            <a:off x="8476487" y="2446020"/>
            <a:ext cx="3090672" cy="221443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 dirty="0">
                <a:solidFill>
                  <a:srgbClr val="F59E0B"/>
                </a:solidFill>
                <a:latin typeface="Aptos"/>
                <a:cs typeface="Aptos"/>
              </a:rPr>
              <a:t>Humanas</a:t>
            </a:r>
            <a:endParaRPr lang="pt-BR" sz="150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O fluxo segue a especificação?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Os elementos escolhidos são corretos?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A asserção valida o resultado esperado?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O teste exigiria pouca correção manual?</a:t>
            </a:r>
            <a:endParaRPr lang="pt-BR" sz="1120" dirty="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19</a:t>
            </a:r>
            <a:endParaRPr lang="pt-BR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Classificação de Falhas</a:t>
            </a:r>
            <a:endParaRPr lang="pt-BR" sz="2450"/>
          </a:p>
        </p:txBody>
      </p:sp>
      <p:sp>
        <p:nvSpPr>
          <p:cNvPr id="4" name="Subtitle"/>
          <p:cNvSpPr txBox="1"/>
          <p:nvPr/>
        </p:nvSpPr>
        <p:spPr>
          <a:xfrm>
            <a:off x="8275320" y="4114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1050">
                <a:solidFill>
                  <a:srgbClr val="667085"/>
                </a:solidFill>
                <a:latin typeface="Aptos"/>
                <a:cs typeface="Aptos"/>
              </a:rPr>
              <a:t>passou/falhou não basta</a:t>
            </a:r>
            <a:endParaRPr lang="pt-BR" sz="1050"/>
          </a:p>
        </p:txBody>
      </p:sp>
      <p:sp>
        <p:nvSpPr>
          <p:cNvPr id="20" name="Rectangle"/>
          <p:cNvSpPr/>
          <p:nvPr/>
        </p:nvSpPr>
        <p:spPr>
          <a:xfrm>
            <a:off x="731520" y="2240280"/>
            <a:ext cx="2560320" cy="21488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Rectangle"/>
          <p:cNvSpPr/>
          <p:nvPr/>
        </p:nvSpPr>
        <p:spPr>
          <a:xfrm>
            <a:off x="731520" y="2240280"/>
            <a:ext cx="7315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Box"/>
          <p:cNvSpPr txBox="1"/>
          <p:nvPr/>
        </p:nvSpPr>
        <p:spPr>
          <a:xfrm>
            <a:off x="841248" y="2331720"/>
            <a:ext cx="2359151" cy="19842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 dirty="0">
                <a:solidFill>
                  <a:srgbClr val="16A34A"/>
                </a:solidFill>
                <a:latin typeface="Aptos"/>
                <a:cs typeface="Aptos"/>
              </a:rPr>
              <a:t>application_failure</a:t>
            </a:r>
            <a:endParaRPr lang="pt-BR" sz="150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Teste conceitualmente correto</a:t>
            </a:r>
            <a:endParaRPr lang="pt-BR" sz="1120" dirty="0"/>
          </a:p>
          <a:p>
            <a:pPr marL="360000" indent="-220000" algn="l">
              <a:buChar char="•"/>
            </a:pPr>
            <a:r>
              <a:rPr lang="pt-BR" sz="1120" dirty="0">
                <a:solidFill>
                  <a:srgbClr val="1F2937"/>
                </a:solidFill>
                <a:latin typeface="Aptos"/>
                <a:cs typeface="Aptos"/>
              </a:rPr>
              <a:t>Aplicação não exibiu o resultado esperado</a:t>
            </a:r>
            <a:endParaRPr lang="pt-BR" sz="1120" dirty="0"/>
          </a:p>
        </p:txBody>
      </p:sp>
      <p:sp>
        <p:nvSpPr>
          <p:cNvPr id="30" name="Rectangle"/>
          <p:cNvSpPr/>
          <p:nvPr/>
        </p:nvSpPr>
        <p:spPr>
          <a:xfrm>
            <a:off x="3520440" y="2240280"/>
            <a:ext cx="2560320" cy="21488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" name="Rectangle"/>
          <p:cNvSpPr/>
          <p:nvPr/>
        </p:nvSpPr>
        <p:spPr>
          <a:xfrm>
            <a:off x="3520440" y="2240280"/>
            <a:ext cx="73152" cy="2148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Box"/>
          <p:cNvSpPr txBox="1"/>
          <p:nvPr/>
        </p:nvSpPr>
        <p:spPr>
          <a:xfrm>
            <a:off x="3630168" y="2331720"/>
            <a:ext cx="2359151" cy="19842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>
                <a:solidFill>
                  <a:srgbClr val="DC2626"/>
                </a:solidFill>
                <a:latin typeface="Aptos"/>
                <a:cs typeface="Aptos"/>
              </a:rPr>
              <a:t>generated_test_failure</a:t>
            </a:r>
            <a:endParaRPr lang="pt-BR" sz="150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Fluxo errado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Seletor, rota ou asserção inventada</a:t>
            </a:r>
            <a:endParaRPr lang="pt-BR" sz="1120"/>
          </a:p>
        </p:txBody>
      </p:sp>
      <p:sp>
        <p:nvSpPr>
          <p:cNvPr id="40" name="Rectangle"/>
          <p:cNvSpPr/>
          <p:nvPr/>
        </p:nvSpPr>
        <p:spPr>
          <a:xfrm>
            <a:off x="6309360" y="2240280"/>
            <a:ext cx="2560320" cy="21488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1" name="Rectangle"/>
          <p:cNvSpPr/>
          <p:nvPr/>
        </p:nvSpPr>
        <p:spPr>
          <a:xfrm>
            <a:off x="6309360" y="224028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Box"/>
          <p:cNvSpPr txBox="1"/>
          <p:nvPr/>
        </p:nvSpPr>
        <p:spPr>
          <a:xfrm>
            <a:off x="6419088" y="2331720"/>
            <a:ext cx="2359151" cy="19842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>
                <a:solidFill>
                  <a:srgbClr val="2563EB"/>
                </a:solidFill>
                <a:latin typeface="Aptos"/>
                <a:cs typeface="Aptos"/>
              </a:rPr>
              <a:t>environment_failure</a:t>
            </a:r>
            <a:endParaRPr lang="pt-BR" sz="150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Rede, container, dependência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Instabilidade externa</a:t>
            </a:r>
            <a:endParaRPr lang="pt-BR" sz="1120"/>
          </a:p>
        </p:txBody>
      </p:sp>
      <p:sp>
        <p:nvSpPr>
          <p:cNvPr id="50" name="Rectangle"/>
          <p:cNvSpPr/>
          <p:nvPr/>
        </p:nvSpPr>
        <p:spPr>
          <a:xfrm>
            <a:off x="9098280" y="2240280"/>
            <a:ext cx="2331720" cy="21488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1" name="Rectangle"/>
          <p:cNvSpPr/>
          <p:nvPr/>
        </p:nvSpPr>
        <p:spPr>
          <a:xfrm>
            <a:off x="9098280" y="224028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Box"/>
          <p:cNvSpPr txBox="1"/>
          <p:nvPr/>
        </p:nvSpPr>
        <p:spPr>
          <a:xfrm>
            <a:off x="9208007" y="2331720"/>
            <a:ext cx="2130551" cy="198424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>
                <a:solidFill>
                  <a:srgbClr val="F59E0B"/>
                </a:solidFill>
                <a:latin typeface="Aptos"/>
                <a:cs typeface="Aptos"/>
              </a:rPr>
              <a:t>inconclusive</a:t>
            </a:r>
            <a:endParaRPr lang="pt-BR" sz="150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Evidência insuficiente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Causa não separável</a:t>
            </a:r>
            <a:endParaRPr lang="pt-BR" sz="112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20</a:t>
            </a:r>
            <a:endParaRPr lang="pt-BR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Resultados</a:t>
            </a:r>
            <a:endParaRPr lang="pt-BR" sz="2450"/>
          </a:p>
        </p:txBody>
      </p:sp>
      <p:sp>
        <p:nvSpPr>
          <p:cNvPr id="4" name="Subtitle"/>
          <p:cNvSpPr txBox="1"/>
          <p:nvPr/>
        </p:nvSpPr>
        <p:spPr>
          <a:xfrm>
            <a:off x="8275320" y="4114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1050">
                <a:solidFill>
                  <a:srgbClr val="667085"/>
                </a:solidFill>
                <a:latin typeface="Aptos"/>
                <a:cs typeface="Aptos"/>
              </a:rPr>
              <a:t>estrutura sugerida</a:t>
            </a:r>
            <a:endParaRPr lang="pt-BR" sz="1050"/>
          </a:p>
        </p:txBody>
      </p:sp>
      <p:sp>
        <p:nvSpPr>
          <p:cNvPr id="10" name="Text Box"/>
          <p:cNvSpPr txBox="1"/>
          <p:nvPr/>
        </p:nvSpPr>
        <p:spPr>
          <a:xfrm>
            <a:off x="685800" y="1097280"/>
            <a:ext cx="10789920" cy="64008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00000" tIns="100000" rIns="100000" bIns="100000" anchor="t"/>
          <a:lstStyle/>
          <a:p>
            <a:pPr marL="0" indent="0" algn="ctr"/>
            <a:r>
              <a:rPr lang="pt-BR" sz="1350">
                <a:solidFill>
                  <a:srgbClr val="667085"/>
                </a:solidFill>
                <a:latin typeface="Aptos"/>
                <a:cs typeface="Aptos"/>
              </a:rPr>
              <a:t>Preencher com os resultados finais após gerar e avaliar os testes baseline e semantic_prompt.</a:t>
            </a:r>
            <a:endParaRPr lang="pt-BR" sz="1350"/>
          </a:p>
        </p:txBody>
      </p:sp>
      <p:sp>
        <p:nvSpPr>
          <p:cNvPr id="20" name="Rectangle"/>
          <p:cNvSpPr/>
          <p:nvPr/>
        </p:nvSpPr>
        <p:spPr>
          <a:xfrm>
            <a:off x="868680" y="2240280"/>
            <a:ext cx="2240280" cy="19659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Box"/>
          <p:cNvSpPr txBox="1"/>
          <p:nvPr/>
        </p:nvSpPr>
        <p:spPr>
          <a:xfrm>
            <a:off x="1005839" y="2514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00" b="1">
                <a:solidFill>
                  <a:srgbClr val="1F2937"/>
                </a:solidFill>
                <a:latin typeface="Aptos"/>
                <a:cs typeface="Aptos"/>
              </a:rPr>
              <a:t>Executáveis</a:t>
            </a:r>
            <a:endParaRPr lang="pt-BR" sz="1000"/>
          </a:p>
        </p:txBody>
      </p:sp>
      <p:sp>
        <p:nvSpPr>
          <p:cNvPr id="22" name="Text Box"/>
          <p:cNvSpPr txBox="1"/>
          <p:nvPr/>
        </p:nvSpPr>
        <p:spPr>
          <a:xfrm>
            <a:off x="1005839" y="30632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950">
                <a:solidFill>
                  <a:srgbClr val="2563EB"/>
                </a:solidFill>
                <a:latin typeface="Aptos"/>
                <a:cs typeface="Aptos"/>
              </a:rPr>
              <a:t>baseline  ×  proposta</a:t>
            </a:r>
            <a:endParaRPr lang="pt-BR" sz="950"/>
          </a:p>
        </p:txBody>
      </p:sp>
      <p:sp>
        <p:nvSpPr>
          <p:cNvPr id="23" name="Rectangle"/>
          <p:cNvSpPr/>
          <p:nvPr/>
        </p:nvSpPr>
        <p:spPr>
          <a:xfrm>
            <a:off x="1188719" y="3703320"/>
            <a:ext cx="1600200" cy="14630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Rectangle"/>
          <p:cNvSpPr/>
          <p:nvPr/>
        </p:nvSpPr>
        <p:spPr>
          <a:xfrm>
            <a:off x="3611880" y="2240280"/>
            <a:ext cx="2240280" cy="19659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Box"/>
          <p:cNvSpPr txBox="1"/>
          <p:nvPr/>
        </p:nvSpPr>
        <p:spPr>
          <a:xfrm>
            <a:off x="3749040" y="2514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00" b="1">
                <a:solidFill>
                  <a:srgbClr val="1F2937"/>
                </a:solidFill>
                <a:latin typeface="Aptos"/>
                <a:cs typeface="Aptos"/>
              </a:rPr>
              <a:t>Com expect</a:t>
            </a:r>
            <a:endParaRPr lang="pt-BR" sz="1000"/>
          </a:p>
        </p:txBody>
      </p:sp>
      <p:sp>
        <p:nvSpPr>
          <p:cNvPr id="26" name="Text Box"/>
          <p:cNvSpPr txBox="1"/>
          <p:nvPr/>
        </p:nvSpPr>
        <p:spPr>
          <a:xfrm>
            <a:off x="3749040" y="30632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950">
                <a:solidFill>
                  <a:srgbClr val="0F766E"/>
                </a:solidFill>
                <a:latin typeface="Aptos"/>
                <a:cs typeface="Aptos"/>
              </a:rPr>
              <a:t>baseline  ×  proposta</a:t>
            </a:r>
            <a:endParaRPr lang="pt-BR" sz="950"/>
          </a:p>
        </p:txBody>
      </p:sp>
      <p:sp>
        <p:nvSpPr>
          <p:cNvPr id="27" name="Rectangle"/>
          <p:cNvSpPr/>
          <p:nvPr/>
        </p:nvSpPr>
        <p:spPr>
          <a:xfrm>
            <a:off x="3931920" y="3703320"/>
            <a:ext cx="1600200" cy="14630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8" name="Rectangle"/>
          <p:cNvSpPr/>
          <p:nvPr/>
        </p:nvSpPr>
        <p:spPr>
          <a:xfrm>
            <a:off x="6355080" y="2240280"/>
            <a:ext cx="2240280" cy="19659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Box"/>
          <p:cNvSpPr txBox="1"/>
          <p:nvPr/>
        </p:nvSpPr>
        <p:spPr>
          <a:xfrm>
            <a:off x="6492240" y="2514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00" b="1">
                <a:solidFill>
                  <a:srgbClr val="1F2937"/>
                </a:solidFill>
                <a:latin typeface="Aptos"/>
                <a:cs typeface="Aptos"/>
              </a:rPr>
              <a:t>URLs desconhecidas</a:t>
            </a:r>
            <a:endParaRPr lang="pt-BR" sz="1000"/>
          </a:p>
        </p:txBody>
      </p:sp>
      <p:sp>
        <p:nvSpPr>
          <p:cNvPr id="30" name="Text Box"/>
          <p:cNvSpPr txBox="1"/>
          <p:nvPr/>
        </p:nvSpPr>
        <p:spPr>
          <a:xfrm>
            <a:off x="6492240" y="30632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950">
                <a:solidFill>
                  <a:srgbClr val="DC2626"/>
                </a:solidFill>
                <a:latin typeface="Aptos"/>
                <a:cs typeface="Aptos"/>
              </a:rPr>
              <a:t>baseline  ×  proposta</a:t>
            </a:r>
            <a:endParaRPr lang="pt-BR" sz="950"/>
          </a:p>
        </p:txBody>
      </p:sp>
      <p:sp>
        <p:nvSpPr>
          <p:cNvPr id="31" name="Rectangle"/>
          <p:cNvSpPr/>
          <p:nvPr/>
        </p:nvSpPr>
        <p:spPr>
          <a:xfrm>
            <a:off x="6675120" y="3703320"/>
            <a:ext cx="1600200" cy="14630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Rectangle"/>
          <p:cNvSpPr/>
          <p:nvPr/>
        </p:nvSpPr>
        <p:spPr>
          <a:xfrm>
            <a:off x="9098280" y="2240280"/>
            <a:ext cx="2240280" cy="19659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Box"/>
          <p:cNvSpPr txBox="1"/>
          <p:nvPr/>
        </p:nvSpPr>
        <p:spPr>
          <a:xfrm>
            <a:off x="9235440" y="2514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000" b="1">
                <a:solidFill>
                  <a:srgbClr val="1F2937"/>
                </a:solidFill>
                <a:latin typeface="Aptos"/>
                <a:cs typeface="Aptos"/>
              </a:rPr>
              <a:t>Seletores alto risco</a:t>
            </a:r>
            <a:endParaRPr lang="pt-BR" sz="1000"/>
          </a:p>
        </p:txBody>
      </p:sp>
      <p:sp>
        <p:nvSpPr>
          <p:cNvPr id="34" name="Text Box"/>
          <p:cNvSpPr txBox="1"/>
          <p:nvPr/>
        </p:nvSpPr>
        <p:spPr>
          <a:xfrm>
            <a:off x="9235440" y="30632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950">
                <a:solidFill>
                  <a:srgbClr val="F59E0B"/>
                </a:solidFill>
                <a:latin typeface="Aptos"/>
                <a:cs typeface="Aptos"/>
              </a:rPr>
              <a:t>baseline  ×  proposta</a:t>
            </a:r>
            <a:endParaRPr lang="pt-BR" sz="950"/>
          </a:p>
        </p:txBody>
      </p:sp>
      <p:sp>
        <p:nvSpPr>
          <p:cNvPr id="35" name="Rectangle"/>
          <p:cNvSpPr/>
          <p:nvPr/>
        </p:nvSpPr>
        <p:spPr>
          <a:xfrm>
            <a:off x="9418319" y="3703320"/>
            <a:ext cx="1600200" cy="14630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Box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200">
                <a:solidFill>
                  <a:srgbClr val="667085"/>
                </a:solidFill>
                <a:latin typeface="Aptos"/>
                <a:cs typeface="Aptos"/>
              </a:rPr>
              <a:t>Na fala: interpretar os números. Não mostrar apenas tabela; explicar o que mudou na qualidade do teste gerado.</a:t>
            </a:r>
            <a:endParaRPr lang="pt-BR" sz="120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21</a:t>
            </a:r>
            <a:endParaRPr lang="pt-BR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Discussão</a:t>
            </a:r>
            <a:endParaRPr lang="pt-BR" sz="2450"/>
          </a:p>
        </p:txBody>
      </p:sp>
      <p:sp>
        <p:nvSpPr>
          <p:cNvPr id="10" name="Bullets"/>
          <p:cNvSpPr txBox="1"/>
          <p:nvPr/>
        </p:nvSpPr>
        <p:spPr>
          <a:xfrm>
            <a:off x="685800" y="1261872"/>
            <a:ext cx="10698480" cy="480060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80000" tIns="180000" rIns="180000" bIns="180000" anchor="t"/>
          <a:lstStyle/>
          <a:p>
            <a:pPr marL="360000" indent="-220000" algn="l">
              <a:buChar char="•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O grafo reduz a dependência do conhecimento genérico da LLM;</a:t>
            </a:r>
            <a:endParaRPr lang="pt-BR" sz="1850" dirty="0"/>
          </a:p>
          <a:p>
            <a:pPr marL="360000" indent="-220000" algn="l">
              <a:buChar char="•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A cobertura da especificação transforma lacunas em informação auditável.</a:t>
            </a:r>
            <a:endParaRPr lang="pt-BR" sz="1850" dirty="0"/>
          </a:p>
          <a:p>
            <a:pPr marL="360000" indent="-220000" algn="l">
              <a:buChar char="•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A avaliação precisa separar qualidade do teste, execução observada e causa da falha.</a:t>
            </a:r>
            <a:endParaRPr lang="pt-BR" sz="1850" dirty="0"/>
          </a:p>
          <a:p>
            <a:pPr marL="360000" indent="-220000" algn="l">
              <a:buChar char="•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A proposta melhora a rastreabilidade entre especificação, interface e teste.</a:t>
            </a:r>
          </a:p>
          <a:p>
            <a:pPr marL="360000" indent="-220000" algn="l">
              <a:buChar char="•"/>
            </a:pPr>
            <a:r>
              <a:rPr lang="pt-BR" sz="1850" dirty="0">
                <a:solidFill>
                  <a:srgbClr val="1F2937"/>
                </a:solidFill>
                <a:latin typeface="Aptos"/>
                <a:cs typeface="Aptos"/>
              </a:rPr>
              <a:t>O benefício esperado não é geração perfeita, mas geração mais fundamentada e revisável.</a:t>
            </a:r>
          </a:p>
          <a:p>
            <a:pPr marL="360000" indent="-220000" algn="l">
              <a:buChar char="•"/>
            </a:pPr>
            <a:endParaRPr lang="pt-BR" sz="1850" dirty="0">
              <a:solidFill>
                <a:srgbClr val="1F2937"/>
              </a:solidFill>
              <a:latin typeface="Aptos"/>
              <a:cs typeface="Aptos"/>
            </a:endParaRPr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22</a:t>
            </a:r>
            <a:endParaRPr lang="pt-BR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Contribuições da Pesquisa</a:t>
            </a:r>
            <a:endParaRPr lang="pt-BR" sz="2450"/>
          </a:p>
        </p:txBody>
      </p:sp>
      <p:sp>
        <p:nvSpPr>
          <p:cNvPr id="10" name="Rectangle"/>
          <p:cNvSpPr/>
          <p:nvPr/>
        </p:nvSpPr>
        <p:spPr>
          <a:xfrm>
            <a:off x="640080" y="1097280"/>
            <a:ext cx="3474720" cy="4526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Rectangle"/>
          <p:cNvSpPr/>
          <p:nvPr/>
        </p:nvSpPr>
        <p:spPr>
          <a:xfrm>
            <a:off x="640080" y="1097280"/>
            <a:ext cx="73152" cy="4526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Box"/>
          <p:cNvSpPr txBox="1"/>
          <p:nvPr/>
        </p:nvSpPr>
        <p:spPr>
          <a:xfrm>
            <a:off x="749808" y="1188720"/>
            <a:ext cx="3273551" cy="436168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>
                <a:solidFill>
                  <a:srgbClr val="0F766E"/>
                </a:solidFill>
                <a:latin typeface="Aptos"/>
                <a:cs typeface="Aptos"/>
              </a:rPr>
              <a:t>Científicas</a:t>
            </a:r>
            <a:endParaRPr lang="pt-BR" sz="150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Grounding semântico para testes E2E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Grafo navegacional como contexto estruturado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Coverage da especificação como evidência</a:t>
            </a:r>
            <a:endParaRPr lang="pt-BR" sz="1120"/>
          </a:p>
        </p:txBody>
      </p:sp>
      <p:sp>
        <p:nvSpPr>
          <p:cNvPr id="25" name="Rectangle"/>
          <p:cNvSpPr/>
          <p:nvPr/>
        </p:nvSpPr>
        <p:spPr>
          <a:xfrm>
            <a:off x="4434840" y="1097280"/>
            <a:ext cx="3474720" cy="4526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" name="Rectangle"/>
          <p:cNvSpPr/>
          <p:nvPr/>
        </p:nvSpPr>
        <p:spPr>
          <a:xfrm>
            <a:off x="4434840" y="1097280"/>
            <a:ext cx="73152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Box"/>
          <p:cNvSpPr txBox="1"/>
          <p:nvPr/>
        </p:nvSpPr>
        <p:spPr>
          <a:xfrm>
            <a:off x="4544568" y="1188720"/>
            <a:ext cx="3273551" cy="436168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>
                <a:solidFill>
                  <a:srgbClr val="2563EB"/>
                </a:solidFill>
                <a:latin typeface="Aptos"/>
                <a:cs typeface="Aptos"/>
              </a:rPr>
              <a:t>Técnicas</a:t>
            </a:r>
            <a:endParaRPr lang="pt-BR" sz="150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Pipeline Crawljax + Neo4j + Python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Ranking de páginas, transições e caminhos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Política de seletores e avaliação</a:t>
            </a:r>
            <a:endParaRPr lang="pt-BR" sz="1120"/>
          </a:p>
        </p:txBody>
      </p:sp>
      <p:sp>
        <p:nvSpPr>
          <p:cNvPr id="40" name="Rectangle"/>
          <p:cNvSpPr/>
          <p:nvPr/>
        </p:nvSpPr>
        <p:spPr>
          <a:xfrm>
            <a:off x="8229600" y="1097280"/>
            <a:ext cx="3291840" cy="4526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1" name="Rectangle"/>
          <p:cNvSpPr/>
          <p:nvPr/>
        </p:nvSpPr>
        <p:spPr>
          <a:xfrm>
            <a:off x="8229600" y="1097280"/>
            <a:ext cx="73152" cy="4526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Box"/>
          <p:cNvSpPr txBox="1"/>
          <p:nvPr/>
        </p:nvSpPr>
        <p:spPr>
          <a:xfrm>
            <a:off x="8339327" y="1188720"/>
            <a:ext cx="3090672" cy="4361688"/>
          </a:xfrm>
          <a:prstGeom prst="rect">
            <a:avLst/>
          </a:prstGeom>
          <a:noFill/>
          <a:ln>
            <a:noFill/>
          </a:ln>
        </p:spPr>
        <p:txBody>
          <a:bodyPr wrap="square" lIns="60000" tIns="60000" rIns="60000" bIns="60000" anchor="t"/>
          <a:lstStyle/>
          <a:p>
            <a:pPr marL="0" indent="0" algn="l"/>
            <a:r>
              <a:rPr lang="pt-BR" sz="1500" b="1">
                <a:solidFill>
                  <a:srgbClr val="F59E0B"/>
                </a:solidFill>
                <a:latin typeface="Aptos"/>
                <a:cs typeface="Aptos"/>
              </a:rPr>
              <a:t>Práticas</a:t>
            </a:r>
            <a:endParaRPr lang="pt-BR" sz="150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Apoio à criação inicial de testes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Menos rotas e seletores inventados</a:t>
            </a:r>
            <a:endParaRPr lang="pt-BR" sz="1120"/>
          </a:p>
          <a:p>
            <a:pPr marL="360000" indent="-220000" algn="l">
              <a:buChar char="•"/>
            </a:pPr>
            <a:r>
              <a:rPr lang="pt-BR" sz="1120">
                <a:solidFill>
                  <a:srgbClr val="1F2937"/>
                </a:solidFill>
                <a:latin typeface="Aptos"/>
                <a:cs typeface="Aptos"/>
              </a:rPr>
              <a:t>Maior auditabilidade do prompt</a:t>
            </a:r>
            <a:endParaRPr lang="pt-BR" sz="112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23</a:t>
            </a:r>
            <a:endParaRPr lang="pt-BR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Limitações e Ameaças à Validade</a:t>
            </a:r>
            <a:endParaRPr lang="pt-BR" sz="2450"/>
          </a:p>
        </p:txBody>
      </p:sp>
      <p:sp>
        <p:nvSpPr>
          <p:cNvPr id="10" name="Bullets"/>
          <p:cNvSpPr txBox="1"/>
          <p:nvPr/>
        </p:nvSpPr>
        <p:spPr>
          <a:xfrm>
            <a:off x="685800" y="1261872"/>
            <a:ext cx="10698480" cy="480060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80000" tIns="180000" rIns="180000" bIns="180000" anchor="t"/>
          <a:lstStyle/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O crawler pode não descobrir todos os fluxos relevantes.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Um único site alvo limita a generalização.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Diferentes LLMs podem produzir resultados distintos.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Especificações ambíguas prejudicam o alinhamento semântico.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A análise estática baseada em padrões textuais pode deixar passar casos complexos.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A avaliação humana pode introduzir subjetividade.</a:t>
            </a:r>
            <a:endParaRPr lang="pt-BR" sz="18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24</a:t>
            </a:r>
            <a:endParaRPr lang="pt-BR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lide Title"/>
          <p:cNvSpPr txBox="1"/>
          <p:nvPr/>
        </p:nvSpPr>
        <p:spPr>
          <a:xfrm>
            <a:off x="502920" y="38404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pt-BR" sz="2450" b="1">
                <a:solidFill>
                  <a:srgbClr val="0F766E"/>
                </a:solidFill>
                <a:latin typeface="Aptos"/>
                <a:cs typeface="Aptos"/>
              </a:rPr>
              <a:t>Trabalhos Futuros</a:t>
            </a:r>
            <a:endParaRPr lang="pt-BR" sz="2450"/>
          </a:p>
        </p:txBody>
      </p:sp>
      <p:sp>
        <p:nvSpPr>
          <p:cNvPr id="10" name="Bullets"/>
          <p:cNvSpPr txBox="1"/>
          <p:nvPr/>
        </p:nvSpPr>
        <p:spPr>
          <a:xfrm>
            <a:off x="685800" y="1261872"/>
            <a:ext cx="10698480" cy="480060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80000" tIns="180000" rIns="180000" bIns="180000" anchor="t"/>
          <a:lstStyle/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Avaliar mais aplicações e domínios.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Comparar diferentes LLMs.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Executar testes com Playwright de forma controlada e coletar traces.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Evoluir a análise estática para parser TypeScript.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Melhorar a extração semântica do crawler.</a:t>
            </a:r>
            <a:endParaRPr lang="pt-BR" sz="1850"/>
          </a:p>
          <a:p>
            <a:pPr marL="360000" indent="-220000" algn="l">
              <a:buChar char="•"/>
            </a:pPr>
            <a:r>
              <a:rPr lang="pt-BR" sz="1850">
                <a:solidFill>
                  <a:srgbClr val="1F2937"/>
                </a:solidFill>
                <a:latin typeface="Aptos"/>
                <a:cs typeface="Aptos"/>
              </a:rPr>
              <a:t>Investigar geração semiautônoma com validação iterativa.</a:t>
            </a:r>
            <a:endParaRPr lang="pt-BR" sz="1850"/>
          </a:p>
        </p:txBody>
      </p:sp>
      <p:sp>
        <p:nvSpPr>
          <p:cNvPr id="900" name="Slide Number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/>
            <a:r>
              <a:rPr lang="pt-BR" sz="900">
                <a:solidFill>
                  <a:srgbClr val="667085"/>
                </a:solidFill>
                <a:latin typeface="Aptos"/>
                <a:cs typeface="Aptos"/>
              </a:rPr>
              <a:t>25</a:t>
            </a:r>
            <a:endParaRPr lang="pt-BR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Box"/>
          <p:cNvSpPr txBox="1"/>
          <p:nvPr/>
        </p:nvSpPr>
        <p:spPr>
          <a:xfrm>
            <a:off x="1005840" y="123444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2900" b="1">
                <a:solidFill>
                  <a:srgbClr val="0F766E"/>
                </a:solidFill>
                <a:latin typeface="Aptos"/>
                <a:cs typeface="Aptos"/>
              </a:rPr>
              <a:t>Considerações Finais</a:t>
            </a:r>
            <a:endParaRPr lang="pt-BR" sz="2900"/>
          </a:p>
        </p:txBody>
      </p:sp>
      <p:sp>
        <p:nvSpPr>
          <p:cNvPr id="5" name="Text Box"/>
          <p:cNvSpPr txBox="1"/>
          <p:nvPr/>
        </p:nvSpPr>
        <p:spPr>
          <a:xfrm>
            <a:off x="1143000" y="2423160"/>
            <a:ext cx="9921240" cy="1234440"/>
          </a:xfrm>
          <a:prstGeom prst="rect">
            <a:avLst/>
          </a:prstGeom>
          <a:solidFill>
            <a:srgbClr val="FFFFFF"/>
          </a:solidFill>
          <a:ln w="11000">
            <a:solidFill>
              <a:srgbClr val="D0D5DD"/>
            </a:solidFill>
          </a:ln>
        </p:spPr>
        <p:txBody>
          <a:bodyPr wrap="square" lIns="150000" tIns="150000" rIns="150000" bIns="150000" anchor="t"/>
          <a:lstStyle/>
          <a:p>
            <a:pPr marL="0" indent="0" algn="ctr"/>
            <a:r>
              <a:rPr lang="pt-BR" sz="1750">
                <a:solidFill>
                  <a:srgbClr val="1F2937"/>
                </a:solidFill>
                <a:latin typeface="Aptos"/>
                <a:cs typeface="Aptos"/>
              </a:rPr>
              <a:t>A pesquisa propõe uma forma de tornar a geração de testes E2E por LLMs mais fundamentada, auditável e aderente à aplicação real.</a:t>
            </a:r>
            <a:endParaRPr lang="pt-BR" sz="1750"/>
          </a:p>
        </p:txBody>
      </p:sp>
      <p:sp>
        <p:nvSpPr>
          <p:cNvPr id="6" name="Text Box"/>
          <p:cNvSpPr txBox="1"/>
          <p:nvPr/>
        </p:nvSpPr>
        <p:spPr>
          <a:xfrm>
            <a:off x="1097280" y="480060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2400" b="1">
                <a:solidFill>
                  <a:srgbClr val="0F766E"/>
                </a:solidFill>
                <a:latin typeface="Aptos"/>
                <a:cs typeface="Aptos"/>
              </a:rPr>
              <a:t>Obrigado!</a:t>
            </a:r>
            <a:endParaRPr lang="pt-BR" sz="2400"/>
          </a:p>
        </p:txBody>
      </p:sp>
      <p:sp>
        <p:nvSpPr>
          <p:cNvPr id="7" name="Text Box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/>
            <a:r>
              <a:rPr lang="pt-BR" sz="1350">
                <a:solidFill>
                  <a:srgbClr val="667085"/>
                </a:solidFill>
                <a:latin typeface="Aptos"/>
                <a:cs typeface="Aptos"/>
              </a:rPr>
              <a:t>À disposição para perguntas.</a:t>
            </a:r>
            <a:endParaRPr lang="pt-BR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2828</Words>
  <Application>Microsoft Office PowerPoint</Application>
  <PresentationFormat>Custom</PresentationFormat>
  <Paragraphs>329</Paragraphs>
  <Slides>26</Slides>
  <Notes>13</Notes>
  <HiddenSlides>7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Geração de Prompts Semânticos para Testes E2E</dc:title>
  <dc:subject>Apresentação de defesa de mestrado</dc:subject>
  <dc:creator>Codex</dc:creator>
  <cp:lastModifiedBy>Gabriel  Martins Spínola</cp:lastModifiedBy>
  <cp:revision>2</cp:revision>
  <dcterms:created xsi:type="dcterms:W3CDTF">2026-06-15T12:10:59Z</dcterms:created>
  <dcterms:modified xsi:type="dcterms:W3CDTF">2026-06-15T20:49:03Z</dcterms:modified>
</cp:coreProperties>
</file>